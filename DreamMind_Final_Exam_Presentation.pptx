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58463712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95E4B-9940-A9FE-A383-1948B3DFC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F997A-325B-F72D-CB01-4F2CEACAD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2A4B81-65F4-6CDF-A486-82F28139F7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DEED3A-9C3C-9AFA-DDDA-FFC5138CFA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3CDCED-2D80-34B5-F119-37B53AB4B2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E4742A-519E-62CA-BCB1-E6960ACAE2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969669-DC4C-C055-1D08-C258D90A26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6F4987-73D0-0D97-A1CB-303D8DFD3C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E22ABB-664A-6025-AB69-C44121F5A3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CCFEC-10D1-4817-DF58-8638E77E98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6EAE9D-8989-5535-7827-DAECEE6601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F942CB-5D1D-ED0D-0751-CE3C17A50A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15FC7B-1BAF-B3BA-247B-5AEFE1145C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DreamMind Master">
    <p:bg>
      <p:bgPr shadeToTitle="0">
        <a:solidFill>
          <a:srgbClr val="0B0F1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/>
    </p:titleStyle>
    <p:bodyStyle>
      <a:lvl1pPr marL="0" indent="0"/>
    </p:bodyStyle>
    <p:otherStyle>
      <a:lvl1pPr marL="0" indent="0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4.png"/><Relationship Id="rId10" Type="http://schemas.openxmlformats.org/officeDocument/2006/relationships/image" Target="../media/image2.png"/><Relationship Id="rId1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DreamMind Cov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201055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1339388078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822407887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1663443214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2087200501" name="TextBox 6"/>
          <p:cNvSpPr/>
          <p:nvPr/>
        </p:nvSpPr>
        <p:spPr bwMode="auto">
          <a:xfrm>
            <a:off x="777240" y="841248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3100" b="1">
                <a:solidFill>
                  <a:srgbClr val="F4F5FB"/>
                </a:solidFill>
                <a:latin typeface="Aptos Display"/>
              </a:rPr>
              <a:t>DreamMind</a:t>
            </a:r>
            <a:endParaRPr lang="en-US" sz="3100"/>
          </a:p>
        </p:txBody>
      </p:sp>
      <p:sp>
        <p:nvSpPr>
          <p:cNvPr id="520352526" name="TextBox 7"/>
          <p:cNvSpPr/>
          <p:nvPr/>
        </p:nvSpPr>
        <p:spPr bwMode="auto">
          <a:xfrm>
            <a:off x="822960" y="1572768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500">
                <a:solidFill>
                  <a:srgbClr val="9AA0C0"/>
                </a:solidFill>
                <a:latin typeface="Aptos"/>
              </a:rPr>
              <a:t>A smart sleep wellness app for better routines, clearer analytics, and personalized recovery guidance.</a:t>
            </a:r>
            <a:endParaRPr lang="en-US" sz="1500"/>
          </a:p>
        </p:txBody>
      </p:sp>
      <p:sp>
        <p:nvSpPr>
          <p:cNvPr id="855026754" name="Chip 8"/>
          <p:cNvSpPr/>
          <p:nvPr/>
        </p:nvSpPr>
        <p:spPr bwMode="auto">
          <a:xfrm>
            <a:off x="841248" y="2743200"/>
            <a:ext cx="1463040" cy="384048"/>
          </a:xfrm>
          <a:prstGeom prst="roundRect">
            <a:avLst>
              <a:gd name="adj" fmla="val 16667"/>
            </a:avLst>
          </a:prstGeom>
          <a:solidFill>
            <a:srgbClr val="1F2547"/>
          </a:solidFill>
          <a:ln w="12700">
            <a:solidFill>
              <a:srgbClr val="7C6FF0">
                <a:alpha val="45000"/>
              </a:srgbClr>
            </a:solidFill>
            <a:prstDash val="solid"/>
          </a:ln>
        </p:spPr>
        <p:txBody>
          <a:bodyPr wrap="square" lIns="73152" tIns="27432" rIns="73152" bIns="27432" rtlCol="0" anchor="ctr"/>
          <a:lstStyle/>
          <a:p>
            <a:pPr algn="ctr">
              <a:defRPr/>
            </a:pPr>
            <a:r>
              <a:rPr lang="en-US" sz="1100">
                <a:solidFill>
                  <a:srgbClr val="F4F5FB"/>
                </a:solidFill>
                <a:latin typeface="Aptos"/>
              </a:rPr>
              <a:t>Sleep Logging</a:t>
            </a:r>
            <a:endParaRPr lang="en-US" sz="1100"/>
          </a:p>
        </p:txBody>
      </p:sp>
      <p:sp>
        <p:nvSpPr>
          <p:cNvPr id="92869627" name="Chip 9"/>
          <p:cNvSpPr/>
          <p:nvPr/>
        </p:nvSpPr>
        <p:spPr bwMode="auto">
          <a:xfrm>
            <a:off x="2450592" y="2743200"/>
            <a:ext cx="1463040" cy="384048"/>
          </a:xfrm>
          <a:prstGeom prst="roundRect">
            <a:avLst>
              <a:gd name="adj" fmla="val 16667"/>
            </a:avLst>
          </a:prstGeom>
          <a:solidFill>
            <a:srgbClr val="1F2547"/>
          </a:solidFill>
          <a:ln w="12700">
            <a:solidFill>
              <a:srgbClr val="7FE3C4">
                <a:alpha val="45000"/>
              </a:srgbClr>
            </a:solidFill>
            <a:prstDash val="solid"/>
          </a:ln>
        </p:spPr>
        <p:txBody>
          <a:bodyPr wrap="square" lIns="73152" tIns="27432" rIns="73152" bIns="27432" rtlCol="0" anchor="ctr"/>
          <a:lstStyle/>
          <a:p>
            <a:pPr algn="ctr">
              <a:defRPr/>
            </a:pPr>
            <a:r>
              <a:rPr lang="en-US" sz="1100">
                <a:solidFill>
                  <a:srgbClr val="F4F5FB"/>
                </a:solidFill>
                <a:latin typeface="Aptos"/>
              </a:rPr>
              <a:t>Smart Alarm</a:t>
            </a:r>
            <a:endParaRPr lang="en-US" sz="1100"/>
          </a:p>
        </p:txBody>
      </p:sp>
      <p:sp>
        <p:nvSpPr>
          <p:cNvPr id="1112198189" name="Chip 10"/>
          <p:cNvSpPr/>
          <p:nvPr/>
        </p:nvSpPr>
        <p:spPr bwMode="auto">
          <a:xfrm>
            <a:off x="4059936" y="2743200"/>
            <a:ext cx="1463040" cy="384048"/>
          </a:xfrm>
          <a:prstGeom prst="roundRect">
            <a:avLst>
              <a:gd name="adj" fmla="val 16667"/>
            </a:avLst>
          </a:prstGeom>
          <a:solidFill>
            <a:srgbClr val="1F2547"/>
          </a:solidFill>
          <a:ln w="12700">
            <a:solidFill>
              <a:srgbClr val="A69DFF">
                <a:alpha val="45000"/>
              </a:srgbClr>
            </a:solidFill>
            <a:prstDash val="solid"/>
          </a:ln>
        </p:spPr>
        <p:txBody>
          <a:bodyPr wrap="square" lIns="73152" tIns="27432" rIns="73152" bIns="27432" rtlCol="0" anchor="ctr"/>
          <a:lstStyle/>
          <a:p>
            <a:pPr algn="ctr">
              <a:defRPr/>
            </a:pPr>
            <a:r>
              <a:rPr lang="en-US" sz="1100">
                <a:solidFill>
                  <a:srgbClr val="F4F5FB"/>
                </a:solidFill>
                <a:latin typeface="Aptos"/>
              </a:rPr>
              <a:t>AI Coach</a:t>
            </a:r>
            <a:endParaRPr lang="en-US" sz="1100"/>
          </a:p>
        </p:txBody>
      </p:sp>
      <p:sp>
        <p:nvSpPr>
          <p:cNvPr id="1197290981" name="TextBox 11"/>
          <p:cNvSpPr/>
          <p:nvPr/>
        </p:nvSpPr>
        <p:spPr bwMode="auto">
          <a:xfrm>
            <a:off x="841248" y="56235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050">
                <a:solidFill>
                  <a:srgbClr val="9AA0C0"/>
                </a:solidFill>
                <a:latin typeface="Aptos"/>
              </a:rPr>
              <a:t>Final Exam Presentation</a:t>
            </a:r>
            <a:endParaRPr lang="en-US" sz="1050"/>
          </a:p>
        </p:txBody>
      </p:sp>
      <p:sp>
        <p:nvSpPr>
          <p:cNvPr id="1568326946" name="ScreenshotCard 12"/>
          <p:cNvSpPr/>
          <p:nvPr/>
        </p:nvSpPr>
        <p:spPr bwMode="auto">
          <a:xfrm>
            <a:off x="6583680" y="658368"/>
            <a:ext cx="2880360" cy="49834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751842630" name="AccentBar 13"/>
          <p:cNvSpPr/>
          <p:nvPr/>
        </p:nvSpPr>
        <p:spPr bwMode="auto">
          <a:xfrm>
            <a:off x="6748272" y="822959"/>
            <a:ext cx="109728" cy="465429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1046536855" name="TextBox 14"/>
          <p:cNvSpPr/>
          <p:nvPr/>
        </p:nvSpPr>
        <p:spPr bwMode="auto">
          <a:xfrm>
            <a:off x="6967728" y="822959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Home Dashboard</a:t>
            </a:r>
            <a:endParaRPr lang="en-US" sz="1300"/>
          </a:p>
        </p:txBody>
      </p:sp>
      <p:sp>
        <p:nvSpPr>
          <p:cNvPr id="320286535" name="TextBox 15"/>
          <p:cNvSpPr/>
          <p:nvPr/>
        </p:nvSpPr>
        <p:spPr bwMode="auto">
          <a:xfrm>
            <a:off x="6967728" y="5257800"/>
            <a:ext cx="22585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900">
                <a:solidFill>
                  <a:srgbClr val="9AA0C0"/>
                </a:solidFill>
                <a:latin typeface="Aptos"/>
              </a:rPr>
              <a:t>Real DreamMind screenshot</a:t>
            </a:r>
            <a:endParaRPr lang="en-US" sz="900"/>
          </a:p>
        </p:txBody>
      </p:sp>
      <p:pic>
        <p:nvPicPr>
          <p:cNvPr id="683076270" name="Home Dashboard 1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47613" y="1161288"/>
            <a:ext cx="1552493" cy="4005072"/>
          </a:xfrm>
          <a:prstGeom prst="rect">
            <a:avLst/>
          </a:prstGeom>
          <a:ln>
            <a:noFill/>
          </a:ln>
        </p:spPr>
      </p:pic>
      <p:sp>
        <p:nvSpPr>
          <p:cNvPr id="804249780" name="ScreenshotCard 17"/>
          <p:cNvSpPr/>
          <p:nvPr/>
        </p:nvSpPr>
        <p:spPr bwMode="auto">
          <a:xfrm>
            <a:off x="9555480" y="1234440"/>
            <a:ext cx="1920240" cy="37947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707392363" name="AccentBar 18"/>
          <p:cNvSpPr/>
          <p:nvPr/>
        </p:nvSpPr>
        <p:spPr bwMode="auto">
          <a:xfrm>
            <a:off x="9720072" y="1399032"/>
            <a:ext cx="109728" cy="346557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1223936734" name="TextBox 19"/>
          <p:cNvSpPr/>
          <p:nvPr/>
        </p:nvSpPr>
        <p:spPr bwMode="auto">
          <a:xfrm>
            <a:off x="9939528" y="139903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AI Coach</a:t>
            </a:r>
            <a:endParaRPr lang="en-US" sz="1300"/>
          </a:p>
        </p:txBody>
      </p:sp>
      <p:pic>
        <p:nvPicPr>
          <p:cNvPr id="165567866" name="AI Coach 2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929301" y="1737360"/>
            <a:ext cx="1172596" cy="307238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Introduction and Tea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589439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2108588662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375171389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1538185196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2117624826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Introduction and Team</a:t>
            </a:r>
            <a:endParaRPr lang="en-US" sz="2800"/>
          </a:p>
        </p:txBody>
      </p:sp>
      <p:sp>
        <p:nvSpPr>
          <p:cNvPr id="88178083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>
                <a:solidFill>
                  <a:srgbClr val="9AA0C0"/>
                </a:solidFill>
                <a:latin typeface="Aptos"/>
              </a:rPr>
              <a:t>DreamMind is a mobile sleep wellness app designed for students and busy users who want better routines, clearer sleep insight, and calmer daily habits.</a:t>
            </a:r>
            <a:endParaRPr lang="en-US" sz="1350"/>
          </a:p>
        </p:txBody>
      </p:sp>
      <p:sp>
        <p:nvSpPr>
          <p:cNvPr id="2018755686" name="TeamMember 8"/>
          <p:cNvSpPr/>
          <p:nvPr/>
        </p:nvSpPr>
        <p:spPr bwMode="auto">
          <a:xfrm>
            <a:off x="841248" y="1828800"/>
            <a:ext cx="4572000" cy="1389888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C6FF0">
                <a:alpha val="40000"/>
              </a:srgbClr>
            </a:solidFill>
            <a:prstDash val="solid"/>
          </a:ln>
        </p:spPr>
      </p:sp>
      <p:sp>
        <p:nvSpPr>
          <p:cNvPr id="252427418" name="AccentBar 9"/>
          <p:cNvSpPr/>
          <p:nvPr/>
        </p:nvSpPr>
        <p:spPr bwMode="auto">
          <a:xfrm>
            <a:off x="1005840" y="1993392"/>
            <a:ext cx="109728" cy="1060704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968238993" name="TextBox 10"/>
          <p:cNvSpPr/>
          <p:nvPr/>
        </p:nvSpPr>
        <p:spPr bwMode="auto">
          <a:xfrm>
            <a:off x="1225296" y="201168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500" b="1">
                <a:solidFill>
                  <a:srgbClr val="F4F5FB"/>
                </a:solidFill>
                <a:latin typeface="Aptos"/>
              </a:rPr>
              <a:t>Xalilov Abdukarim</a:t>
            </a:r>
            <a:endParaRPr lang="en-US" sz="1500"/>
          </a:p>
        </p:txBody>
      </p:sp>
      <p:sp>
        <p:nvSpPr>
          <p:cNvPr id="341538815" name="TextBox 11"/>
          <p:cNvSpPr/>
          <p:nvPr/>
        </p:nvSpPr>
        <p:spPr bwMode="auto">
          <a:xfrm>
            <a:off x="3886200" y="2029968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defRPr/>
            </a:pPr>
            <a:r>
              <a:rPr lang="en-US" sz="1050" b="1">
                <a:solidFill>
                  <a:srgbClr val="9AA0C0"/>
                </a:solidFill>
                <a:latin typeface="Aptos"/>
              </a:rPr>
              <a:t>ID: 230544</a:t>
            </a:r>
            <a:endParaRPr lang="en-US" sz="1050"/>
          </a:p>
        </p:txBody>
      </p:sp>
      <p:sp>
        <p:nvSpPr>
          <p:cNvPr id="923999809" name="TextBox 12"/>
          <p:cNvSpPr/>
          <p:nvPr/>
        </p:nvSpPr>
        <p:spPr bwMode="auto">
          <a:xfrm>
            <a:off x="1225296" y="2395728"/>
            <a:ext cx="3822191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Concept and presentation structure</a:t>
            </a:r>
            <a:endParaRPr lang="en-US" sz="1100"/>
          </a:p>
        </p:txBody>
      </p:sp>
      <p:sp>
        <p:nvSpPr>
          <p:cNvPr id="1845862801" name="TeamMember 13"/>
          <p:cNvSpPr/>
          <p:nvPr/>
        </p:nvSpPr>
        <p:spPr bwMode="auto">
          <a:xfrm>
            <a:off x="5897880" y="1828800"/>
            <a:ext cx="4572000" cy="1389888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FE3C4">
                <a:alpha val="40000"/>
              </a:srgbClr>
            </a:solidFill>
            <a:prstDash val="solid"/>
          </a:ln>
        </p:spPr>
      </p:sp>
      <p:sp>
        <p:nvSpPr>
          <p:cNvPr id="1669955107" name="AccentBar 14"/>
          <p:cNvSpPr/>
          <p:nvPr/>
        </p:nvSpPr>
        <p:spPr bwMode="auto">
          <a:xfrm>
            <a:off x="6062471" y="1993392"/>
            <a:ext cx="109728" cy="1060704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1103798199" name="TextBox 15"/>
          <p:cNvSpPr/>
          <p:nvPr/>
        </p:nvSpPr>
        <p:spPr bwMode="auto">
          <a:xfrm>
            <a:off x="6281928" y="201168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500" b="1">
                <a:solidFill>
                  <a:srgbClr val="F4F5FB"/>
                </a:solidFill>
                <a:latin typeface="Aptos"/>
              </a:rPr>
              <a:t>Tohirov Hikmatillo</a:t>
            </a:r>
            <a:endParaRPr lang="en-US" sz="1500"/>
          </a:p>
        </p:txBody>
      </p:sp>
      <p:sp>
        <p:nvSpPr>
          <p:cNvPr id="82148543" name="TextBox 16"/>
          <p:cNvSpPr/>
          <p:nvPr/>
        </p:nvSpPr>
        <p:spPr bwMode="auto">
          <a:xfrm>
            <a:off x="8942832" y="2029968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defRPr/>
            </a:pPr>
            <a:r>
              <a:rPr lang="en-US" sz="1050" b="1">
                <a:solidFill>
                  <a:srgbClr val="9AA0C0"/>
                </a:solidFill>
                <a:latin typeface="Aptos"/>
              </a:rPr>
              <a:t>ID: 230272</a:t>
            </a:r>
            <a:endParaRPr lang="en-US" sz="1050"/>
          </a:p>
        </p:txBody>
      </p:sp>
      <p:sp>
        <p:nvSpPr>
          <p:cNvPr id="1706536974" name="TextBox 17"/>
          <p:cNvSpPr/>
          <p:nvPr/>
        </p:nvSpPr>
        <p:spPr bwMode="auto">
          <a:xfrm>
            <a:off x="6281928" y="2395728"/>
            <a:ext cx="3822191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Android implementation and architecture</a:t>
            </a:r>
            <a:endParaRPr lang="en-US" sz="1100"/>
          </a:p>
        </p:txBody>
      </p:sp>
      <p:sp>
        <p:nvSpPr>
          <p:cNvPr id="330297682" name="TeamMember 18"/>
          <p:cNvSpPr/>
          <p:nvPr/>
        </p:nvSpPr>
        <p:spPr bwMode="auto">
          <a:xfrm>
            <a:off x="841248" y="3749039"/>
            <a:ext cx="4572000" cy="1389888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A69DFF">
                <a:alpha val="40000"/>
              </a:srgbClr>
            </a:solidFill>
            <a:prstDash val="solid"/>
          </a:ln>
        </p:spPr>
      </p:sp>
      <p:sp>
        <p:nvSpPr>
          <p:cNvPr id="528903654" name="AccentBar 19"/>
          <p:cNvSpPr/>
          <p:nvPr/>
        </p:nvSpPr>
        <p:spPr bwMode="auto">
          <a:xfrm>
            <a:off x="1005840" y="3913630"/>
            <a:ext cx="109728" cy="1060704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1432480839" name="TextBox 20"/>
          <p:cNvSpPr/>
          <p:nvPr/>
        </p:nvSpPr>
        <p:spPr bwMode="auto">
          <a:xfrm>
            <a:off x="1225296" y="393192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500" b="1">
                <a:solidFill>
                  <a:srgbClr val="F4F5FB"/>
                </a:solidFill>
                <a:latin typeface="Aptos"/>
              </a:rPr>
              <a:t>Choriyev Mirjalol</a:t>
            </a:r>
            <a:endParaRPr lang="en-US" sz="1500"/>
          </a:p>
        </p:txBody>
      </p:sp>
      <p:sp>
        <p:nvSpPr>
          <p:cNvPr id="1563599895" name="TextBox 21"/>
          <p:cNvSpPr/>
          <p:nvPr/>
        </p:nvSpPr>
        <p:spPr bwMode="auto">
          <a:xfrm>
            <a:off x="3886200" y="3950207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defRPr/>
            </a:pPr>
            <a:r>
              <a:rPr lang="en-US" sz="1050" b="1">
                <a:solidFill>
                  <a:srgbClr val="9AA0C0"/>
                </a:solidFill>
                <a:latin typeface="Aptos"/>
              </a:rPr>
              <a:t>ID: 230234</a:t>
            </a:r>
            <a:endParaRPr lang="en-US" sz="1050"/>
          </a:p>
        </p:txBody>
      </p:sp>
      <p:sp>
        <p:nvSpPr>
          <p:cNvPr id="98465105" name="TextBox 22"/>
          <p:cNvSpPr/>
          <p:nvPr/>
        </p:nvSpPr>
        <p:spPr bwMode="auto">
          <a:xfrm>
            <a:off x="1225296" y="4315968"/>
            <a:ext cx="3822191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UI/UX design and user flow</a:t>
            </a:r>
            <a:endParaRPr lang="en-US" sz="1100"/>
          </a:p>
        </p:txBody>
      </p:sp>
      <p:sp>
        <p:nvSpPr>
          <p:cNvPr id="1447914083" name="TeamMember 23"/>
          <p:cNvSpPr/>
          <p:nvPr/>
        </p:nvSpPr>
        <p:spPr bwMode="auto">
          <a:xfrm>
            <a:off x="5897880" y="3749039"/>
            <a:ext cx="4572000" cy="1389888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C6FF0">
                <a:alpha val="40000"/>
              </a:srgbClr>
            </a:solidFill>
            <a:prstDash val="solid"/>
          </a:ln>
        </p:spPr>
      </p:sp>
      <p:sp>
        <p:nvSpPr>
          <p:cNvPr id="1291716009" name="AccentBar 24"/>
          <p:cNvSpPr/>
          <p:nvPr/>
        </p:nvSpPr>
        <p:spPr bwMode="auto">
          <a:xfrm>
            <a:off x="6062471" y="3913630"/>
            <a:ext cx="109728" cy="1060704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1597556582" name="TextBox 25"/>
          <p:cNvSpPr/>
          <p:nvPr/>
        </p:nvSpPr>
        <p:spPr bwMode="auto">
          <a:xfrm>
            <a:off x="6281928" y="393192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500" b="1">
                <a:solidFill>
                  <a:srgbClr val="F4F5FB"/>
                </a:solidFill>
                <a:latin typeface="Aptos"/>
              </a:rPr>
              <a:t>Bo'taboyev Sherzod</a:t>
            </a:r>
            <a:endParaRPr lang="en-US" sz="1500"/>
          </a:p>
        </p:txBody>
      </p:sp>
      <p:sp>
        <p:nvSpPr>
          <p:cNvPr id="119974452" name="TextBox 26"/>
          <p:cNvSpPr/>
          <p:nvPr/>
        </p:nvSpPr>
        <p:spPr bwMode="auto">
          <a:xfrm>
            <a:off x="8942832" y="3950207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defRPr/>
            </a:pPr>
            <a:r>
              <a:rPr lang="en-US" sz="1050" b="1">
                <a:solidFill>
                  <a:srgbClr val="9AA0C0"/>
                </a:solidFill>
                <a:latin typeface="Aptos"/>
              </a:rPr>
              <a:t>ID: 230804</a:t>
            </a:r>
            <a:endParaRPr lang="en-US" sz="1050"/>
          </a:p>
        </p:txBody>
      </p:sp>
      <p:sp>
        <p:nvSpPr>
          <p:cNvPr id="813342130" name="TextBox 27"/>
          <p:cNvSpPr/>
          <p:nvPr/>
        </p:nvSpPr>
        <p:spPr bwMode="auto">
          <a:xfrm>
            <a:off x="6281928" y="4315968"/>
            <a:ext cx="3822191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Testing review and future planning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Problem Motivation Target User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63573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943349302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1292270078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1220901819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1501460292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Problem, Motivation, and Target Users</a:t>
            </a:r>
            <a:endParaRPr lang="en-US" sz="2800"/>
          </a:p>
        </p:txBody>
      </p:sp>
      <p:sp>
        <p:nvSpPr>
          <p:cNvPr id="424830126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endParaRPr lang="en-US" sz="1350"/>
          </a:p>
        </p:txBody>
      </p:sp>
      <p:sp>
        <p:nvSpPr>
          <p:cNvPr id="602242085" name="InfoCard 8"/>
          <p:cNvSpPr/>
          <p:nvPr/>
        </p:nvSpPr>
        <p:spPr bwMode="auto">
          <a:xfrm>
            <a:off x="804672" y="1828800"/>
            <a:ext cx="3246120" cy="10972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384366878" name="AccentBar 9"/>
          <p:cNvSpPr/>
          <p:nvPr/>
        </p:nvSpPr>
        <p:spPr bwMode="auto">
          <a:xfrm>
            <a:off x="969264" y="1993392"/>
            <a:ext cx="109728" cy="768096"/>
          </a:xfrm>
          <a:prstGeom prst="roundRect">
            <a:avLst>
              <a:gd name="adj" fmla="val 16667"/>
            </a:avLst>
          </a:prstGeom>
          <a:solidFill>
            <a:srgbClr val="7C6FF0">
              <a:alpha val="100000"/>
            </a:srgbClr>
          </a:solidFill>
          <a:ln>
            <a:noFill/>
          </a:ln>
        </p:spPr>
      </p:sp>
      <p:sp>
        <p:nvSpPr>
          <p:cNvPr id="1694268598" name="TextBox 10"/>
          <p:cNvSpPr/>
          <p:nvPr/>
        </p:nvSpPr>
        <p:spPr bwMode="auto">
          <a:xfrm>
            <a:off x="1188720" y="20574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Problem</a:t>
            </a:r>
            <a:endParaRPr lang="en-US" sz="1350"/>
          </a:p>
        </p:txBody>
      </p:sp>
      <p:sp>
        <p:nvSpPr>
          <p:cNvPr id="719093352" name="TextBox 11"/>
          <p:cNvSpPr/>
          <p:nvPr/>
        </p:nvSpPr>
        <p:spPr bwMode="auto">
          <a:xfrm>
            <a:off x="1188720" y="2395728"/>
            <a:ext cx="2679191" cy="3657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Users often rely on separate apps for tracking, alarms, and advice, which weakens routine consistency.</a:t>
            </a:r>
            <a:endParaRPr lang="en-US" sz="1100"/>
          </a:p>
        </p:txBody>
      </p:sp>
      <p:sp>
        <p:nvSpPr>
          <p:cNvPr id="2099570343" name="InfoCard 12"/>
          <p:cNvSpPr/>
          <p:nvPr/>
        </p:nvSpPr>
        <p:spPr bwMode="auto">
          <a:xfrm>
            <a:off x="804672" y="3127248"/>
            <a:ext cx="3246120" cy="10972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926591064" name="AccentBar 13"/>
          <p:cNvSpPr/>
          <p:nvPr/>
        </p:nvSpPr>
        <p:spPr bwMode="auto">
          <a:xfrm>
            <a:off x="969264" y="3291840"/>
            <a:ext cx="109728" cy="768096"/>
          </a:xfrm>
          <a:prstGeom prst="roundRect">
            <a:avLst>
              <a:gd name="adj" fmla="val 16667"/>
            </a:avLst>
          </a:prstGeom>
          <a:solidFill>
            <a:srgbClr val="7FE3C4">
              <a:alpha val="100000"/>
            </a:srgbClr>
          </a:solidFill>
          <a:ln>
            <a:noFill/>
          </a:ln>
        </p:spPr>
      </p:sp>
      <p:sp>
        <p:nvSpPr>
          <p:cNvPr id="1121269735" name="TextBox 14"/>
          <p:cNvSpPr/>
          <p:nvPr/>
        </p:nvSpPr>
        <p:spPr bwMode="auto">
          <a:xfrm>
            <a:off x="1188720" y="335584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Motivation</a:t>
            </a:r>
            <a:endParaRPr lang="en-US" sz="1350"/>
          </a:p>
        </p:txBody>
      </p:sp>
      <p:sp>
        <p:nvSpPr>
          <p:cNvPr id="47692372" name="TextBox 15"/>
          <p:cNvSpPr/>
          <p:nvPr/>
        </p:nvSpPr>
        <p:spPr bwMode="auto">
          <a:xfrm>
            <a:off x="1188720" y="3694176"/>
            <a:ext cx="2679191" cy="3657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DreamMind unifies those tasks inside one calm interface that encourages regular use and easier interpretation.</a:t>
            </a:r>
            <a:endParaRPr lang="en-US" sz="1100"/>
          </a:p>
        </p:txBody>
      </p:sp>
      <p:sp>
        <p:nvSpPr>
          <p:cNvPr id="509559084" name="InfoCard 16"/>
          <p:cNvSpPr/>
          <p:nvPr/>
        </p:nvSpPr>
        <p:spPr bwMode="auto">
          <a:xfrm>
            <a:off x="804672" y="4425696"/>
            <a:ext cx="3246120" cy="10972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2090643064" name="AccentBar 17"/>
          <p:cNvSpPr/>
          <p:nvPr/>
        </p:nvSpPr>
        <p:spPr bwMode="auto">
          <a:xfrm>
            <a:off x="969264" y="4590288"/>
            <a:ext cx="109728" cy="768096"/>
          </a:xfrm>
          <a:prstGeom prst="roundRect">
            <a:avLst>
              <a:gd name="adj" fmla="val 16667"/>
            </a:avLst>
          </a:prstGeom>
          <a:solidFill>
            <a:srgbClr val="A69DFF">
              <a:alpha val="100000"/>
            </a:srgbClr>
          </a:solidFill>
          <a:ln>
            <a:noFill/>
          </a:ln>
        </p:spPr>
      </p:sp>
      <p:sp>
        <p:nvSpPr>
          <p:cNvPr id="1177414713" name="TextBox 18"/>
          <p:cNvSpPr/>
          <p:nvPr/>
        </p:nvSpPr>
        <p:spPr bwMode="auto">
          <a:xfrm>
            <a:off x="1188720" y="465429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Target users</a:t>
            </a:r>
            <a:endParaRPr lang="en-US" sz="1350"/>
          </a:p>
        </p:txBody>
      </p:sp>
      <p:sp>
        <p:nvSpPr>
          <p:cNvPr id="1770080709" name="TextBox 19"/>
          <p:cNvSpPr/>
          <p:nvPr/>
        </p:nvSpPr>
        <p:spPr bwMode="auto">
          <a:xfrm>
            <a:off x="1188720" y="4992624"/>
            <a:ext cx="2679191" cy="3657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Students, young professionals, and wellness-focused users who need sleep guidance without complexity.</a:t>
            </a:r>
            <a:endParaRPr lang="en-US" sz="1100"/>
          </a:p>
        </p:txBody>
      </p:sp>
      <p:sp>
        <p:nvSpPr>
          <p:cNvPr id="1079844060" name="ScreenshotCard 20"/>
          <p:cNvSpPr/>
          <p:nvPr/>
        </p:nvSpPr>
        <p:spPr bwMode="auto">
          <a:xfrm>
            <a:off x="4709160" y="1783080"/>
            <a:ext cx="2057400" cy="416051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460942408" name="AccentBar 21"/>
          <p:cNvSpPr/>
          <p:nvPr/>
        </p:nvSpPr>
        <p:spPr bwMode="auto">
          <a:xfrm>
            <a:off x="4873752" y="1947671"/>
            <a:ext cx="109728" cy="3831335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1402938037" name="TextBox 22"/>
          <p:cNvSpPr/>
          <p:nvPr/>
        </p:nvSpPr>
        <p:spPr bwMode="auto">
          <a:xfrm>
            <a:off x="5093208" y="1947671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Welcome</a:t>
            </a:r>
            <a:endParaRPr lang="en-US" sz="1300"/>
          </a:p>
        </p:txBody>
      </p:sp>
      <p:sp>
        <p:nvSpPr>
          <p:cNvPr id="1929662026" name="TextBox 23"/>
          <p:cNvSpPr/>
          <p:nvPr/>
        </p:nvSpPr>
        <p:spPr bwMode="auto">
          <a:xfrm>
            <a:off x="5093208" y="5559552"/>
            <a:ext cx="143560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900">
                <a:solidFill>
                  <a:srgbClr val="9AA0C0"/>
                </a:solidFill>
                <a:latin typeface="Aptos"/>
              </a:rPr>
              <a:t>First emotional entry into the app</a:t>
            </a:r>
            <a:endParaRPr lang="en-US" sz="900"/>
          </a:p>
        </p:txBody>
      </p:sp>
      <p:pic>
        <p:nvPicPr>
          <p:cNvPr id="1113889870" name="Welcome 2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00120" y="2286000"/>
            <a:ext cx="1675479" cy="3182112"/>
          </a:xfrm>
          <a:prstGeom prst="rect">
            <a:avLst/>
          </a:prstGeom>
          <a:ln>
            <a:noFill/>
          </a:ln>
        </p:spPr>
      </p:pic>
      <p:sp>
        <p:nvSpPr>
          <p:cNvPr id="168338714" name="ScreenshotCard 25"/>
          <p:cNvSpPr/>
          <p:nvPr/>
        </p:nvSpPr>
        <p:spPr bwMode="auto">
          <a:xfrm>
            <a:off x="7059168" y="1600200"/>
            <a:ext cx="2194560" cy="434340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2040913406" name="AccentBar 26"/>
          <p:cNvSpPr/>
          <p:nvPr/>
        </p:nvSpPr>
        <p:spPr bwMode="auto">
          <a:xfrm>
            <a:off x="7223759" y="1764792"/>
            <a:ext cx="109728" cy="4014215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715928183" name="TextBox 27"/>
          <p:cNvSpPr/>
          <p:nvPr/>
        </p:nvSpPr>
        <p:spPr bwMode="auto">
          <a:xfrm>
            <a:off x="7443216" y="176479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Home Dashboard</a:t>
            </a:r>
            <a:endParaRPr lang="en-US" sz="1300"/>
          </a:p>
        </p:txBody>
      </p:sp>
      <p:sp>
        <p:nvSpPr>
          <p:cNvPr id="85066985" name="TextBox 28"/>
          <p:cNvSpPr/>
          <p:nvPr/>
        </p:nvSpPr>
        <p:spPr bwMode="auto">
          <a:xfrm>
            <a:off x="7443216" y="5559552"/>
            <a:ext cx="157276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900">
                <a:solidFill>
                  <a:srgbClr val="9AA0C0"/>
                </a:solidFill>
                <a:latin typeface="Aptos"/>
              </a:rPr>
              <a:t>Key sleep insights at a glance</a:t>
            </a:r>
            <a:endParaRPr lang="en-US" sz="900"/>
          </a:p>
        </p:txBody>
      </p:sp>
      <p:pic>
        <p:nvPicPr>
          <p:cNvPr id="908726224" name="Home Dashboard 2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504259" y="2103120"/>
            <a:ext cx="1304378" cy="3364992"/>
          </a:xfrm>
          <a:prstGeom prst="rect">
            <a:avLst/>
          </a:prstGeom>
          <a:ln>
            <a:noFill/>
          </a:ln>
        </p:spPr>
      </p:pic>
      <p:sp>
        <p:nvSpPr>
          <p:cNvPr id="2054461551" name="ScreenshotCard 30"/>
          <p:cNvSpPr/>
          <p:nvPr/>
        </p:nvSpPr>
        <p:spPr bwMode="auto">
          <a:xfrm>
            <a:off x="9537192" y="1783080"/>
            <a:ext cx="1874519" cy="416051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057568432" name="AccentBar 31"/>
          <p:cNvSpPr/>
          <p:nvPr/>
        </p:nvSpPr>
        <p:spPr bwMode="auto">
          <a:xfrm>
            <a:off x="9701784" y="1947671"/>
            <a:ext cx="109728" cy="3831335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898028759" name="TextBox 32"/>
          <p:cNvSpPr/>
          <p:nvPr/>
        </p:nvSpPr>
        <p:spPr bwMode="auto">
          <a:xfrm>
            <a:off x="9921240" y="1947671"/>
            <a:ext cx="123443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Analytics</a:t>
            </a:r>
            <a:endParaRPr lang="en-US" sz="1300"/>
          </a:p>
        </p:txBody>
      </p:sp>
      <p:sp>
        <p:nvSpPr>
          <p:cNvPr id="337824427" name="TextBox 33"/>
          <p:cNvSpPr/>
          <p:nvPr/>
        </p:nvSpPr>
        <p:spPr bwMode="auto">
          <a:xfrm>
            <a:off x="9921240" y="5559552"/>
            <a:ext cx="125272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900">
                <a:solidFill>
                  <a:srgbClr val="9AA0C0"/>
                </a:solidFill>
                <a:latin typeface="Aptos"/>
              </a:rPr>
              <a:t>Data becomes understandable trends</a:t>
            </a:r>
            <a:endParaRPr lang="en-US" sz="900"/>
          </a:p>
        </p:txBody>
      </p:sp>
      <p:pic>
        <p:nvPicPr>
          <p:cNvPr id="2086469724" name="Analytics 3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912902" y="2286000"/>
            <a:ext cx="1123098" cy="318211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Goals and Feature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809248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5266114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1202863574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1301355277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2059987590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Application Goals and Core Functionalities</a:t>
            </a:r>
            <a:endParaRPr lang="en-US" sz="2800"/>
          </a:p>
        </p:txBody>
      </p:sp>
      <p:sp>
        <p:nvSpPr>
          <p:cNvPr id="829512672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endParaRPr lang="en-US" sz="1350"/>
          </a:p>
        </p:txBody>
      </p:sp>
      <p:sp>
        <p:nvSpPr>
          <p:cNvPr id="48211402" name="InfoCard 8"/>
          <p:cNvSpPr/>
          <p:nvPr/>
        </p:nvSpPr>
        <p:spPr bwMode="auto">
          <a:xfrm>
            <a:off x="822960" y="1847088"/>
            <a:ext cx="3182112" cy="1060704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922560994" name="AccentBar 9"/>
          <p:cNvSpPr/>
          <p:nvPr/>
        </p:nvSpPr>
        <p:spPr bwMode="auto">
          <a:xfrm>
            <a:off x="987552" y="2011680"/>
            <a:ext cx="109728" cy="731519"/>
          </a:xfrm>
          <a:prstGeom prst="roundRect">
            <a:avLst>
              <a:gd name="adj" fmla="val 16667"/>
            </a:avLst>
          </a:prstGeom>
          <a:solidFill>
            <a:srgbClr val="7C6FF0">
              <a:alpha val="100000"/>
            </a:srgbClr>
          </a:solidFill>
          <a:ln>
            <a:noFill/>
          </a:ln>
        </p:spPr>
      </p:sp>
      <p:sp>
        <p:nvSpPr>
          <p:cNvPr id="657450036" name="TextBox 10"/>
          <p:cNvSpPr/>
          <p:nvPr/>
        </p:nvSpPr>
        <p:spPr bwMode="auto">
          <a:xfrm>
            <a:off x="1207008" y="2075688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Goal 1</a:t>
            </a:r>
            <a:endParaRPr lang="en-US" sz="1350"/>
          </a:p>
        </p:txBody>
      </p:sp>
      <p:sp>
        <p:nvSpPr>
          <p:cNvPr id="1741099335" name="TextBox 11"/>
          <p:cNvSpPr/>
          <p:nvPr/>
        </p:nvSpPr>
        <p:spPr bwMode="auto">
          <a:xfrm>
            <a:off x="1207008" y="2414016"/>
            <a:ext cx="2615184" cy="3291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Create one place for sleep onboarding, dashboard insight, and routine building.</a:t>
            </a:r>
            <a:endParaRPr lang="en-US" sz="1100"/>
          </a:p>
        </p:txBody>
      </p:sp>
      <p:sp>
        <p:nvSpPr>
          <p:cNvPr id="1791164601" name="InfoCard 12"/>
          <p:cNvSpPr/>
          <p:nvPr/>
        </p:nvSpPr>
        <p:spPr bwMode="auto">
          <a:xfrm>
            <a:off x="822960" y="3090672"/>
            <a:ext cx="3182112" cy="1060704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237548479" name="AccentBar 13"/>
          <p:cNvSpPr/>
          <p:nvPr/>
        </p:nvSpPr>
        <p:spPr bwMode="auto">
          <a:xfrm>
            <a:off x="987552" y="3255264"/>
            <a:ext cx="109728" cy="731519"/>
          </a:xfrm>
          <a:prstGeom prst="roundRect">
            <a:avLst>
              <a:gd name="adj" fmla="val 16667"/>
            </a:avLst>
          </a:prstGeom>
          <a:solidFill>
            <a:srgbClr val="7FE3C4">
              <a:alpha val="100000"/>
            </a:srgbClr>
          </a:solidFill>
          <a:ln>
            <a:noFill/>
          </a:ln>
        </p:spPr>
      </p:sp>
      <p:sp>
        <p:nvSpPr>
          <p:cNvPr id="701702417" name="TextBox 14"/>
          <p:cNvSpPr/>
          <p:nvPr/>
        </p:nvSpPr>
        <p:spPr bwMode="auto">
          <a:xfrm>
            <a:off x="1207008" y="3319272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Goal 2</a:t>
            </a:r>
            <a:endParaRPr lang="en-US" sz="1350"/>
          </a:p>
        </p:txBody>
      </p:sp>
      <p:sp>
        <p:nvSpPr>
          <p:cNvPr id="539514666" name="TextBox 15"/>
          <p:cNvSpPr/>
          <p:nvPr/>
        </p:nvSpPr>
        <p:spPr bwMode="auto">
          <a:xfrm>
            <a:off x="1207008" y="3657600"/>
            <a:ext cx="2615184" cy="3291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Turn sleep behaviour into actionable information through logging, alarms, and analytics.</a:t>
            </a:r>
            <a:endParaRPr lang="en-US" sz="1100"/>
          </a:p>
        </p:txBody>
      </p:sp>
      <p:sp>
        <p:nvSpPr>
          <p:cNvPr id="372521723" name="InfoCard 16"/>
          <p:cNvSpPr/>
          <p:nvPr/>
        </p:nvSpPr>
        <p:spPr bwMode="auto">
          <a:xfrm>
            <a:off x="822960" y="4334256"/>
            <a:ext cx="3182112" cy="1060704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319574794" name="AccentBar 17"/>
          <p:cNvSpPr/>
          <p:nvPr/>
        </p:nvSpPr>
        <p:spPr bwMode="auto">
          <a:xfrm>
            <a:off x="987552" y="4498848"/>
            <a:ext cx="109728" cy="731519"/>
          </a:xfrm>
          <a:prstGeom prst="roundRect">
            <a:avLst>
              <a:gd name="adj" fmla="val 16667"/>
            </a:avLst>
          </a:prstGeom>
          <a:solidFill>
            <a:srgbClr val="A69DFF">
              <a:alpha val="100000"/>
            </a:srgbClr>
          </a:solidFill>
          <a:ln>
            <a:noFill/>
          </a:ln>
        </p:spPr>
      </p:sp>
      <p:sp>
        <p:nvSpPr>
          <p:cNvPr id="231961800" name="TextBox 18"/>
          <p:cNvSpPr/>
          <p:nvPr/>
        </p:nvSpPr>
        <p:spPr bwMode="auto">
          <a:xfrm>
            <a:off x="1207008" y="4562856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Goal 3</a:t>
            </a:r>
            <a:endParaRPr lang="en-US" sz="1350"/>
          </a:p>
        </p:txBody>
      </p:sp>
      <p:sp>
        <p:nvSpPr>
          <p:cNvPr id="298381151" name="TextBox 19"/>
          <p:cNvSpPr/>
          <p:nvPr/>
        </p:nvSpPr>
        <p:spPr bwMode="auto">
          <a:xfrm>
            <a:off x="1207008" y="4901184"/>
            <a:ext cx="2615184" cy="3291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Support engagement with coaching, personalized screens, and premium UI consistency.</a:t>
            </a:r>
            <a:endParaRPr lang="en-US" sz="1100"/>
          </a:p>
        </p:txBody>
      </p:sp>
      <p:sp>
        <p:nvSpPr>
          <p:cNvPr id="1736081670" name="ScreenshotCard 20"/>
          <p:cNvSpPr/>
          <p:nvPr/>
        </p:nvSpPr>
        <p:spPr bwMode="auto">
          <a:xfrm>
            <a:off x="4617720" y="1755648"/>
            <a:ext cx="1828800" cy="19659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211049224" name="AccentBar 21"/>
          <p:cNvSpPr/>
          <p:nvPr/>
        </p:nvSpPr>
        <p:spPr bwMode="auto">
          <a:xfrm>
            <a:off x="4782312" y="1920240"/>
            <a:ext cx="109728" cy="163677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1449830882" name="TextBox 22"/>
          <p:cNvSpPr/>
          <p:nvPr/>
        </p:nvSpPr>
        <p:spPr bwMode="auto">
          <a:xfrm>
            <a:off x="5001768" y="192024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Dashboard</a:t>
            </a:r>
            <a:endParaRPr lang="en-US" sz="1300"/>
          </a:p>
        </p:txBody>
      </p:sp>
      <p:pic>
        <p:nvPicPr>
          <p:cNvPr id="2030300265" name="Dashboard 2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91094" y="2258568"/>
            <a:ext cx="482052" cy="1243584"/>
          </a:xfrm>
          <a:prstGeom prst="rect">
            <a:avLst/>
          </a:prstGeom>
          <a:ln>
            <a:noFill/>
          </a:ln>
        </p:spPr>
      </p:pic>
      <p:sp>
        <p:nvSpPr>
          <p:cNvPr id="883376325" name="ScreenshotCard 24"/>
          <p:cNvSpPr/>
          <p:nvPr/>
        </p:nvSpPr>
        <p:spPr bwMode="auto">
          <a:xfrm>
            <a:off x="6720840" y="1755648"/>
            <a:ext cx="1828800" cy="19659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2112183839" name="AccentBar 25"/>
          <p:cNvSpPr/>
          <p:nvPr/>
        </p:nvSpPr>
        <p:spPr bwMode="auto">
          <a:xfrm>
            <a:off x="6885431" y="1920240"/>
            <a:ext cx="109728" cy="163677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469453460" name="TextBox 26"/>
          <p:cNvSpPr/>
          <p:nvPr/>
        </p:nvSpPr>
        <p:spPr bwMode="auto">
          <a:xfrm>
            <a:off x="7104888" y="192024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Sleep Log</a:t>
            </a:r>
            <a:endParaRPr lang="en-US" sz="1300"/>
          </a:p>
        </p:txBody>
      </p:sp>
      <p:pic>
        <p:nvPicPr>
          <p:cNvPr id="101004851" name="Sleep Log 2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73966" y="2258568"/>
            <a:ext cx="522548" cy="1243584"/>
          </a:xfrm>
          <a:prstGeom prst="rect">
            <a:avLst/>
          </a:prstGeom>
          <a:ln>
            <a:noFill/>
          </a:ln>
        </p:spPr>
      </p:pic>
      <p:sp>
        <p:nvSpPr>
          <p:cNvPr id="1363806713" name="ScreenshotCard 28"/>
          <p:cNvSpPr/>
          <p:nvPr/>
        </p:nvSpPr>
        <p:spPr bwMode="auto">
          <a:xfrm>
            <a:off x="8823960" y="1755648"/>
            <a:ext cx="1828800" cy="19659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977088924" name="AccentBar 29"/>
          <p:cNvSpPr/>
          <p:nvPr/>
        </p:nvSpPr>
        <p:spPr bwMode="auto">
          <a:xfrm>
            <a:off x="8988552" y="1920240"/>
            <a:ext cx="109728" cy="1636776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799076779" name="TextBox 30"/>
          <p:cNvSpPr/>
          <p:nvPr/>
        </p:nvSpPr>
        <p:spPr bwMode="auto">
          <a:xfrm>
            <a:off x="9208008" y="192024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Smart Alarm</a:t>
            </a:r>
            <a:endParaRPr lang="en-US" sz="1300"/>
          </a:p>
        </p:txBody>
      </p:sp>
      <p:pic>
        <p:nvPicPr>
          <p:cNvPr id="774053480" name="Smart Alarm 3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537330" y="2258568"/>
            <a:ext cx="402060" cy="1243584"/>
          </a:xfrm>
          <a:prstGeom prst="rect">
            <a:avLst/>
          </a:prstGeom>
          <a:ln>
            <a:noFill/>
          </a:ln>
        </p:spPr>
      </p:pic>
      <p:sp>
        <p:nvSpPr>
          <p:cNvPr id="1309542443" name="ScreenshotCard 32"/>
          <p:cNvSpPr/>
          <p:nvPr/>
        </p:nvSpPr>
        <p:spPr bwMode="auto">
          <a:xfrm>
            <a:off x="4617720" y="3840480"/>
            <a:ext cx="1828800" cy="19659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161986540" name="AccentBar 33"/>
          <p:cNvSpPr/>
          <p:nvPr/>
        </p:nvSpPr>
        <p:spPr bwMode="auto">
          <a:xfrm>
            <a:off x="4782312" y="4005072"/>
            <a:ext cx="109728" cy="163677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1242544009" name="TextBox 34"/>
          <p:cNvSpPr/>
          <p:nvPr/>
        </p:nvSpPr>
        <p:spPr bwMode="auto">
          <a:xfrm>
            <a:off x="5001768" y="40050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AI Coach</a:t>
            </a:r>
            <a:endParaRPr lang="en-US" sz="1300"/>
          </a:p>
        </p:txBody>
      </p:sp>
      <p:pic>
        <p:nvPicPr>
          <p:cNvPr id="116511428" name="AI Coach 35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294809" y="4343400"/>
            <a:ext cx="474622" cy="1243584"/>
          </a:xfrm>
          <a:prstGeom prst="rect">
            <a:avLst/>
          </a:prstGeom>
          <a:ln>
            <a:noFill/>
          </a:ln>
        </p:spPr>
      </p:pic>
      <p:sp>
        <p:nvSpPr>
          <p:cNvPr id="838799467" name="ScreenshotCard 36"/>
          <p:cNvSpPr/>
          <p:nvPr/>
        </p:nvSpPr>
        <p:spPr bwMode="auto">
          <a:xfrm>
            <a:off x="6720840" y="3840480"/>
            <a:ext cx="1828800" cy="19659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157991428" name="AccentBar 37"/>
          <p:cNvSpPr/>
          <p:nvPr/>
        </p:nvSpPr>
        <p:spPr bwMode="auto">
          <a:xfrm>
            <a:off x="6885431" y="4005072"/>
            <a:ext cx="109728" cy="163677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1397667731" name="TextBox 38"/>
          <p:cNvSpPr/>
          <p:nvPr/>
        </p:nvSpPr>
        <p:spPr bwMode="auto">
          <a:xfrm>
            <a:off x="7104888" y="40050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Analytics</a:t>
            </a:r>
            <a:endParaRPr lang="en-US" sz="1300"/>
          </a:p>
        </p:txBody>
      </p:sp>
      <p:pic>
        <p:nvPicPr>
          <p:cNvPr id="131060923" name="Analytics 39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415784" y="4343400"/>
            <a:ext cx="438912" cy="1243584"/>
          </a:xfrm>
          <a:prstGeom prst="rect">
            <a:avLst/>
          </a:prstGeom>
          <a:ln>
            <a:noFill/>
          </a:ln>
        </p:spPr>
      </p:pic>
      <p:sp>
        <p:nvSpPr>
          <p:cNvPr id="489558994" name="ScreenshotCard 40"/>
          <p:cNvSpPr/>
          <p:nvPr/>
        </p:nvSpPr>
        <p:spPr bwMode="auto">
          <a:xfrm>
            <a:off x="8823960" y="3840480"/>
            <a:ext cx="1828800" cy="19659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026273994" name="AccentBar 41"/>
          <p:cNvSpPr/>
          <p:nvPr/>
        </p:nvSpPr>
        <p:spPr bwMode="auto">
          <a:xfrm>
            <a:off x="8988552" y="4005072"/>
            <a:ext cx="109728" cy="1636776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504107340" name="TextBox 42"/>
          <p:cNvSpPr/>
          <p:nvPr/>
        </p:nvSpPr>
        <p:spPr bwMode="auto">
          <a:xfrm>
            <a:off x="9208008" y="40050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Profile</a:t>
            </a:r>
            <a:endParaRPr lang="en-US" sz="1300"/>
          </a:p>
        </p:txBody>
      </p:sp>
      <p:pic>
        <p:nvPicPr>
          <p:cNvPr id="74031614" name="Profile 43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537330" y="4343400"/>
            <a:ext cx="402060" cy="124358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Development Tool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829716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367058341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504912061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672692615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1401809136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Development Tools and Stack</a:t>
            </a:r>
            <a:endParaRPr lang="en-US" sz="2800"/>
          </a:p>
        </p:txBody>
      </p:sp>
      <p:sp>
        <p:nvSpPr>
          <p:cNvPr id="1729981363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>
                <a:solidFill>
                  <a:srgbClr val="9AA0C0"/>
                </a:solidFill>
                <a:latin typeface="Aptos"/>
              </a:rPr>
              <a:t>The project uses a modern Android stack chosen for reactive UI, maintainable architecture, and API-based feature growth.</a:t>
            </a:r>
            <a:endParaRPr lang="en-US" sz="1350"/>
          </a:p>
        </p:txBody>
      </p:sp>
      <p:sp>
        <p:nvSpPr>
          <p:cNvPr id="944164511" name="InfoCard 8"/>
          <p:cNvSpPr/>
          <p:nvPr/>
        </p:nvSpPr>
        <p:spPr bwMode="auto">
          <a:xfrm>
            <a:off x="841248" y="1828800"/>
            <a:ext cx="2651760" cy="1325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869497118" name="AccentBar 9"/>
          <p:cNvSpPr/>
          <p:nvPr/>
        </p:nvSpPr>
        <p:spPr bwMode="auto">
          <a:xfrm>
            <a:off x="1005840" y="1993392"/>
            <a:ext cx="109728" cy="996695"/>
          </a:xfrm>
          <a:prstGeom prst="roundRect">
            <a:avLst>
              <a:gd name="adj" fmla="val 16667"/>
            </a:avLst>
          </a:prstGeom>
          <a:solidFill>
            <a:srgbClr val="7C6FF0">
              <a:alpha val="100000"/>
            </a:srgbClr>
          </a:solidFill>
          <a:ln>
            <a:noFill/>
          </a:ln>
        </p:spPr>
      </p:sp>
      <p:sp>
        <p:nvSpPr>
          <p:cNvPr id="156049663" name="TextBox 10"/>
          <p:cNvSpPr/>
          <p:nvPr/>
        </p:nvSpPr>
        <p:spPr bwMode="auto">
          <a:xfrm>
            <a:off x="1225296" y="20574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IDE and Language</a:t>
            </a:r>
            <a:endParaRPr lang="en-US" sz="1350"/>
          </a:p>
        </p:txBody>
      </p:sp>
      <p:sp>
        <p:nvSpPr>
          <p:cNvPr id="364409581" name="TextBox 11"/>
          <p:cNvSpPr/>
          <p:nvPr/>
        </p:nvSpPr>
        <p:spPr bwMode="auto">
          <a:xfrm>
            <a:off x="1225296" y="2395728"/>
            <a:ext cx="2084831" cy="59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Android Studio</a:t>
            </a:r>
            <a:endParaRPr lang="en-US" sz="1100"/>
          </a:p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Kotlin</a:t>
            </a:r>
            <a:endParaRPr lang="en-US" sz="1100"/>
          </a:p>
        </p:txBody>
      </p:sp>
      <p:sp>
        <p:nvSpPr>
          <p:cNvPr id="1327811870" name="InfoCard 12"/>
          <p:cNvSpPr/>
          <p:nvPr/>
        </p:nvSpPr>
        <p:spPr bwMode="auto">
          <a:xfrm>
            <a:off x="3611880" y="1828800"/>
            <a:ext cx="2651760" cy="1325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47551034" name="AccentBar 13"/>
          <p:cNvSpPr/>
          <p:nvPr/>
        </p:nvSpPr>
        <p:spPr bwMode="auto">
          <a:xfrm>
            <a:off x="3776472" y="1993392"/>
            <a:ext cx="109728" cy="996695"/>
          </a:xfrm>
          <a:prstGeom prst="roundRect">
            <a:avLst>
              <a:gd name="adj" fmla="val 16667"/>
            </a:avLst>
          </a:prstGeom>
          <a:solidFill>
            <a:srgbClr val="7FE3C4">
              <a:alpha val="100000"/>
            </a:srgbClr>
          </a:solidFill>
          <a:ln>
            <a:noFill/>
          </a:ln>
        </p:spPr>
      </p:sp>
      <p:sp>
        <p:nvSpPr>
          <p:cNvPr id="1108319074" name="TextBox 14"/>
          <p:cNvSpPr/>
          <p:nvPr/>
        </p:nvSpPr>
        <p:spPr bwMode="auto">
          <a:xfrm>
            <a:off x="3995928" y="20574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UI Framework</a:t>
            </a:r>
            <a:endParaRPr lang="en-US" sz="1350"/>
          </a:p>
        </p:txBody>
      </p:sp>
      <p:sp>
        <p:nvSpPr>
          <p:cNvPr id="2144059826" name="TextBox 15"/>
          <p:cNvSpPr/>
          <p:nvPr/>
        </p:nvSpPr>
        <p:spPr bwMode="auto">
          <a:xfrm>
            <a:off x="3995928" y="2395728"/>
            <a:ext cx="2084831" cy="59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Jetpack Compose</a:t>
            </a:r>
            <a:endParaRPr lang="en-US" sz="1100"/>
          </a:p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Material 3</a:t>
            </a:r>
            <a:endParaRPr lang="en-US" sz="1100"/>
          </a:p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Navigation Compose</a:t>
            </a:r>
            <a:endParaRPr lang="en-US" sz="1100"/>
          </a:p>
        </p:txBody>
      </p:sp>
      <p:sp>
        <p:nvSpPr>
          <p:cNvPr id="2096689228" name="InfoCard 16"/>
          <p:cNvSpPr/>
          <p:nvPr/>
        </p:nvSpPr>
        <p:spPr bwMode="auto">
          <a:xfrm>
            <a:off x="6382512" y="1828800"/>
            <a:ext cx="2651760" cy="1325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496477057" name="AccentBar 17"/>
          <p:cNvSpPr/>
          <p:nvPr/>
        </p:nvSpPr>
        <p:spPr bwMode="auto">
          <a:xfrm>
            <a:off x="6547104" y="1993392"/>
            <a:ext cx="109728" cy="996695"/>
          </a:xfrm>
          <a:prstGeom prst="roundRect">
            <a:avLst>
              <a:gd name="adj" fmla="val 16667"/>
            </a:avLst>
          </a:prstGeom>
          <a:solidFill>
            <a:srgbClr val="A69DFF">
              <a:alpha val="100000"/>
            </a:srgbClr>
          </a:solidFill>
          <a:ln>
            <a:noFill/>
          </a:ln>
        </p:spPr>
      </p:sp>
      <p:sp>
        <p:nvSpPr>
          <p:cNvPr id="1894769210" name="TextBox 18"/>
          <p:cNvSpPr/>
          <p:nvPr/>
        </p:nvSpPr>
        <p:spPr bwMode="auto">
          <a:xfrm>
            <a:off x="6766560" y="20574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State and Storage</a:t>
            </a:r>
            <a:endParaRPr lang="en-US" sz="1350"/>
          </a:p>
        </p:txBody>
      </p:sp>
      <p:sp>
        <p:nvSpPr>
          <p:cNvPr id="217704737" name="TextBox 19"/>
          <p:cNvSpPr/>
          <p:nvPr/>
        </p:nvSpPr>
        <p:spPr bwMode="auto">
          <a:xfrm>
            <a:off x="6766560" y="2395728"/>
            <a:ext cx="2084831" cy="59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ViewModel</a:t>
            </a:r>
            <a:endParaRPr lang="en-US" sz="1100"/>
          </a:p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StateFlow</a:t>
            </a:r>
            <a:endParaRPr lang="en-US" sz="1100"/>
          </a:p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DataStore Preferences</a:t>
            </a:r>
            <a:endParaRPr lang="en-US" sz="1100"/>
          </a:p>
        </p:txBody>
      </p:sp>
      <p:sp>
        <p:nvSpPr>
          <p:cNvPr id="1032848826" name="InfoCard 20"/>
          <p:cNvSpPr/>
          <p:nvPr/>
        </p:nvSpPr>
        <p:spPr bwMode="auto">
          <a:xfrm>
            <a:off x="9153144" y="1828800"/>
            <a:ext cx="2011680" cy="1325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600034522" name="AccentBar 21"/>
          <p:cNvSpPr/>
          <p:nvPr/>
        </p:nvSpPr>
        <p:spPr bwMode="auto">
          <a:xfrm>
            <a:off x="9317736" y="1993392"/>
            <a:ext cx="109728" cy="996695"/>
          </a:xfrm>
          <a:prstGeom prst="roundRect">
            <a:avLst>
              <a:gd name="adj" fmla="val 16667"/>
            </a:avLst>
          </a:prstGeom>
          <a:solidFill>
            <a:srgbClr val="7C6FF0">
              <a:alpha val="100000"/>
            </a:srgbClr>
          </a:solidFill>
          <a:ln>
            <a:noFill/>
          </a:ln>
        </p:spPr>
      </p:sp>
      <p:sp>
        <p:nvSpPr>
          <p:cNvPr id="1768087963" name="TextBox 22"/>
          <p:cNvSpPr/>
          <p:nvPr/>
        </p:nvSpPr>
        <p:spPr bwMode="auto">
          <a:xfrm>
            <a:off x="9537192" y="205740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Networking</a:t>
            </a:r>
            <a:endParaRPr lang="en-US" sz="1350"/>
          </a:p>
        </p:txBody>
      </p:sp>
      <p:sp>
        <p:nvSpPr>
          <p:cNvPr id="644117723" name="TextBox 23"/>
          <p:cNvSpPr/>
          <p:nvPr/>
        </p:nvSpPr>
        <p:spPr bwMode="auto">
          <a:xfrm>
            <a:off x="9537192" y="2395728"/>
            <a:ext cx="1444752" cy="59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Retrofit</a:t>
            </a:r>
            <a:endParaRPr lang="en-US" sz="1100"/>
          </a:p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Gson</a:t>
            </a:r>
            <a:endParaRPr lang="en-US" sz="1100"/>
          </a:p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OkHttp</a:t>
            </a:r>
            <a:endParaRPr lang="en-US" sz="1100"/>
          </a:p>
        </p:txBody>
      </p:sp>
      <p:sp>
        <p:nvSpPr>
          <p:cNvPr id="952353156" name="InfoCard 24"/>
          <p:cNvSpPr/>
          <p:nvPr/>
        </p:nvSpPr>
        <p:spPr bwMode="auto">
          <a:xfrm>
            <a:off x="1691640" y="3749039"/>
            <a:ext cx="3566160" cy="1325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635398762" name="AccentBar 25"/>
          <p:cNvSpPr/>
          <p:nvPr/>
        </p:nvSpPr>
        <p:spPr bwMode="auto">
          <a:xfrm>
            <a:off x="1856232" y="3913630"/>
            <a:ext cx="109728" cy="996695"/>
          </a:xfrm>
          <a:prstGeom prst="roundRect">
            <a:avLst>
              <a:gd name="adj" fmla="val 16667"/>
            </a:avLst>
          </a:prstGeom>
          <a:solidFill>
            <a:srgbClr val="7FE3C4">
              <a:alpha val="100000"/>
            </a:srgbClr>
          </a:solidFill>
          <a:ln>
            <a:noFill/>
          </a:ln>
        </p:spPr>
      </p:sp>
      <p:sp>
        <p:nvSpPr>
          <p:cNvPr id="1632620321" name="TextBox 26"/>
          <p:cNvSpPr/>
          <p:nvPr/>
        </p:nvSpPr>
        <p:spPr bwMode="auto">
          <a:xfrm>
            <a:off x="2075688" y="3977639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Workflow Tools</a:t>
            </a:r>
            <a:endParaRPr lang="en-US" sz="1350"/>
          </a:p>
        </p:txBody>
      </p:sp>
      <p:sp>
        <p:nvSpPr>
          <p:cNvPr id="1443667147" name="TextBox 27"/>
          <p:cNvSpPr/>
          <p:nvPr/>
        </p:nvSpPr>
        <p:spPr bwMode="auto">
          <a:xfrm>
            <a:off x="2075688" y="4315968"/>
            <a:ext cx="2999232" cy="59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Git and GitHub for collaboration, version control, and final submission packaging.</a:t>
            </a:r>
            <a:endParaRPr lang="en-US" sz="1100"/>
          </a:p>
        </p:txBody>
      </p:sp>
      <p:sp>
        <p:nvSpPr>
          <p:cNvPr id="2030847629" name="InfoCard 28"/>
          <p:cNvSpPr/>
          <p:nvPr/>
        </p:nvSpPr>
        <p:spPr bwMode="auto">
          <a:xfrm>
            <a:off x="5623560" y="3749039"/>
            <a:ext cx="3886200" cy="1325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2124952384" name="AccentBar 29"/>
          <p:cNvSpPr/>
          <p:nvPr/>
        </p:nvSpPr>
        <p:spPr bwMode="auto">
          <a:xfrm>
            <a:off x="5788152" y="3913630"/>
            <a:ext cx="109728" cy="996695"/>
          </a:xfrm>
          <a:prstGeom prst="roundRect">
            <a:avLst>
              <a:gd name="adj" fmla="val 16667"/>
            </a:avLst>
          </a:prstGeom>
          <a:solidFill>
            <a:srgbClr val="A69DFF">
              <a:alpha val="100000"/>
            </a:srgbClr>
          </a:solidFill>
          <a:ln>
            <a:noFill/>
          </a:ln>
        </p:spPr>
      </p:sp>
      <p:sp>
        <p:nvSpPr>
          <p:cNvPr id="171916986" name="TextBox 30"/>
          <p:cNvSpPr/>
          <p:nvPr/>
        </p:nvSpPr>
        <p:spPr bwMode="auto">
          <a:xfrm>
            <a:off x="6007607" y="3977639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Project Reasoning</a:t>
            </a:r>
            <a:endParaRPr lang="en-US" sz="1350"/>
          </a:p>
        </p:txBody>
      </p:sp>
      <p:sp>
        <p:nvSpPr>
          <p:cNvPr id="1150915376" name="TextBox 31"/>
          <p:cNvSpPr/>
          <p:nvPr/>
        </p:nvSpPr>
        <p:spPr bwMode="auto">
          <a:xfrm>
            <a:off x="6007607" y="4315968"/>
            <a:ext cx="3319272" cy="59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This stack supports fast UI iteration, screen-level state handling, and easier separation between interface and data logic.</a:t>
            </a:r>
            <a:endParaRPr lang="en-US" sz="1100"/>
          </a:p>
        </p:txBody>
      </p:sp>
      <p:sp>
        <p:nvSpPr>
          <p:cNvPr id="795808846" name="TextBox 32"/>
          <p:cNvSpPr/>
          <p:nvPr/>
        </p:nvSpPr>
        <p:spPr bwMode="auto">
          <a:xfrm>
            <a:off x="960120" y="5513832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 b="1">
                <a:solidFill>
                  <a:srgbClr val="F4F5FB"/>
                </a:solidFill>
                <a:latin typeface="Aptos"/>
              </a:rPr>
              <a:t>The stack also aligns well with the course focus on Kotlin mobile development and clean architectural thinking.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Architect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764264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885791589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701311207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1296691826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2095729894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Architecture Overview</a:t>
            </a:r>
            <a:endParaRPr lang="en-US" sz="2800"/>
          </a:p>
        </p:txBody>
      </p:sp>
      <p:sp>
        <p:nvSpPr>
          <p:cNvPr id="1670600575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>
                <a:solidFill>
                  <a:srgbClr val="9AA0C0"/>
                </a:solidFill>
                <a:latin typeface="Aptos"/>
              </a:rPr>
              <a:t>DreamMind follows an MVVM-oriented structure with clear layers for UI, state, repositories, navigation, and network or local services.</a:t>
            </a:r>
            <a:endParaRPr lang="en-US" sz="1350"/>
          </a:p>
        </p:txBody>
      </p:sp>
      <p:sp>
        <p:nvSpPr>
          <p:cNvPr id="1703818795" name="Layer 8"/>
          <p:cNvSpPr/>
          <p:nvPr/>
        </p:nvSpPr>
        <p:spPr bwMode="auto">
          <a:xfrm>
            <a:off x="868680" y="1828800"/>
            <a:ext cx="4389120" cy="68580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C6FF0">
                <a:alpha val="40000"/>
              </a:srgbClr>
            </a:solidFill>
            <a:prstDash val="solid"/>
          </a:ln>
        </p:spPr>
      </p:sp>
      <p:sp>
        <p:nvSpPr>
          <p:cNvPr id="334609442" name="TextBox 9"/>
          <p:cNvSpPr/>
          <p:nvPr/>
        </p:nvSpPr>
        <p:spPr bwMode="auto">
          <a:xfrm>
            <a:off x="1078992" y="193852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Compose UI</a:t>
            </a:r>
            <a:endParaRPr lang="en-US" sz="1350"/>
          </a:p>
        </p:txBody>
      </p:sp>
      <p:sp>
        <p:nvSpPr>
          <p:cNvPr id="1406666660" name="TextBox 10"/>
          <p:cNvSpPr/>
          <p:nvPr/>
        </p:nvSpPr>
        <p:spPr bwMode="auto">
          <a:xfrm>
            <a:off x="2697480" y="19202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Screens render user interaction and visual state.</a:t>
            </a:r>
            <a:endParaRPr lang="en-US" sz="1000"/>
          </a:p>
        </p:txBody>
      </p:sp>
      <p:sp>
        <p:nvSpPr>
          <p:cNvPr id="342821386" name="Layer 11"/>
          <p:cNvSpPr/>
          <p:nvPr/>
        </p:nvSpPr>
        <p:spPr bwMode="auto">
          <a:xfrm>
            <a:off x="868680" y="2761488"/>
            <a:ext cx="4389120" cy="68580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FE3C4">
                <a:alpha val="40000"/>
              </a:srgbClr>
            </a:solidFill>
            <a:prstDash val="solid"/>
          </a:ln>
        </p:spPr>
      </p:sp>
      <p:sp>
        <p:nvSpPr>
          <p:cNvPr id="563264582" name="TextBox 12"/>
          <p:cNvSpPr/>
          <p:nvPr/>
        </p:nvSpPr>
        <p:spPr bwMode="auto">
          <a:xfrm>
            <a:off x="1078992" y="287121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Feature ViewModels</a:t>
            </a:r>
            <a:endParaRPr lang="en-US" sz="1350"/>
          </a:p>
        </p:txBody>
      </p:sp>
      <p:sp>
        <p:nvSpPr>
          <p:cNvPr id="135696651" name="TextBox 13"/>
          <p:cNvSpPr/>
          <p:nvPr/>
        </p:nvSpPr>
        <p:spPr bwMode="auto">
          <a:xfrm>
            <a:off x="2697480" y="285292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StateFlow-based state and event handling per screen.</a:t>
            </a:r>
            <a:endParaRPr lang="en-US" sz="1000"/>
          </a:p>
        </p:txBody>
      </p:sp>
      <p:sp>
        <p:nvSpPr>
          <p:cNvPr id="1059987438" name="Layer 14"/>
          <p:cNvSpPr/>
          <p:nvPr/>
        </p:nvSpPr>
        <p:spPr bwMode="auto">
          <a:xfrm>
            <a:off x="868680" y="3694176"/>
            <a:ext cx="4389120" cy="68580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A69DFF">
                <a:alpha val="40000"/>
              </a:srgbClr>
            </a:solidFill>
            <a:prstDash val="solid"/>
          </a:ln>
        </p:spPr>
      </p:sp>
      <p:sp>
        <p:nvSpPr>
          <p:cNvPr id="1447883286" name="TextBox 15"/>
          <p:cNvSpPr/>
          <p:nvPr/>
        </p:nvSpPr>
        <p:spPr bwMode="auto">
          <a:xfrm>
            <a:off x="1078992" y="380390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Repositories</a:t>
            </a:r>
            <a:endParaRPr lang="en-US" sz="1350"/>
          </a:p>
        </p:txBody>
      </p:sp>
      <p:sp>
        <p:nvSpPr>
          <p:cNvPr id="1799391117" name="TextBox 16"/>
          <p:cNvSpPr/>
          <p:nvPr/>
        </p:nvSpPr>
        <p:spPr bwMode="auto">
          <a:xfrm>
            <a:off x="2697480" y="3785615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Business logic connects screens to remote and fallback data.</a:t>
            </a:r>
            <a:endParaRPr lang="en-US" sz="1000"/>
          </a:p>
        </p:txBody>
      </p:sp>
      <p:sp>
        <p:nvSpPr>
          <p:cNvPr id="337345474" name="Layer 17"/>
          <p:cNvSpPr/>
          <p:nvPr/>
        </p:nvSpPr>
        <p:spPr bwMode="auto">
          <a:xfrm>
            <a:off x="868680" y="4626864"/>
            <a:ext cx="4389120" cy="68580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C6FF0">
                <a:alpha val="40000"/>
              </a:srgbClr>
            </a:solidFill>
            <a:prstDash val="solid"/>
          </a:ln>
        </p:spPr>
      </p:sp>
      <p:sp>
        <p:nvSpPr>
          <p:cNvPr id="1421548888" name="TextBox 18"/>
          <p:cNvSpPr/>
          <p:nvPr/>
        </p:nvSpPr>
        <p:spPr bwMode="auto">
          <a:xfrm>
            <a:off x="1078992" y="473659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Services</a:t>
            </a:r>
            <a:endParaRPr lang="en-US" sz="1350"/>
          </a:p>
        </p:txBody>
      </p:sp>
      <p:sp>
        <p:nvSpPr>
          <p:cNvPr id="142113603" name="TextBox 19"/>
          <p:cNvSpPr/>
          <p:nvPr/>
        </p:nvSpPr>
        <p:spPr bwMode="auto">
          <a:xfrm>
            <a:off x="2697480" y="471830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Retrofit API, DataStore tokens, and local alarm notifications.</a:t>
            </a:r>
            <a:endParaRPr lang="en-US" sz="1000"/>
          </a:p>
        </p:txBody>
      </p:sp>
      <p:sp>
        <p:nvSpPr>
          <p:cNvPr id="713482499" name="ScreenshotCard 20"/>
          <p:cNvSpPr/>
          <p:nvPr/>
        </p:nvSpPr>
        <p:spPr bwMode="auto">
          <a:xfrm>
            <a:off x="5532120" y="1783080"/>
            <a:ext cx="1828800" cy="3611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983105601" name="AccentBar 21"/>
          <p:cNvSpPr/>
          <p:nvPr/>
        </p:nvSpPr>
        <p:spPr bwMode="auto">
          <a:xfrm>
            <a:off x="5696712" y="1947671"/>
            <a:ext cx="109728" cy="328269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1718246890" name="TextBox 22"/>
          <p:cNvSpPr/>
          <p:nvPr/>
        </p:nvSpPr>
        <p:spPr bwMode="auto">
          <a:xfrm>
            <a:off x="5916168" y="1947671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Home UI</a:t>
            </a:r>
            <a:endParaRPr lang="en-US" sz="1300"/>
          </a:p>
        </p:txBody>
      </p:sp>
      <p:pic>
        <p:nvPicPr>
          <p:cNvPr id="1037910881" name="Home UI 2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6488" y="2286000"/>
            <a:ext cx="1120064" cy="2889504"/>
          </a:xfrm>
          <a:prstGeom prst="rect">
            <a:avLst/>
          </a:prstGeom>
          <a:ln>
            <a:noFill/>
          </a:ln>
        </p:spPr>
      </p:pic>
      <p:sp>
        <p:nvSpPr>
          <p:cNvPr id="1336892229" name="ScreenshotCard 24"/>
          <p:cNvSpPr/>
          <p:nvPr/>
        </p:nvSpPr>
        <p:spPr bwMode="auto">
          <a:xfrm>
            <a:off x="7635240" y="1783080"/>
            <a:ext cx="1828800" cy="3611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019067044" name="AccentBar 25"/>
          <p:cNvSpPr/>
          <p:nvPr/>
        </p:nvSpPr>
        <p:spPr bwMode="auto">
          <a:xfrm>
            <a:off x="7799831" y="1947671"/>
            <a:ext cx="109728" cy="328269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1462720211" name="TextBox 26"/>
          <p:cNvSpPr/>
          <p:nvPr/>
        </p:nvSpPr>
        <p:spPr bwMode="auto">
          <a:xfrm>
            <a:off x="8019288" y="1947671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Analytics UI</a:t>
            </a:r>
            <a:endParaRPr lang="en-US" sz="1300"/>
          </a:p>
        </p:txBody>
      </p:sp>
      <p:pic>
        <p:nvPicPr>
          <p:cNvPr id="1086989496" name="Analytics UI 2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39728" y="2286000"/>
            <a:ext cx="1019824" cy="2889504"/>
          </a:xfrm>
          <a:prstGeom prst="rect">
            <a:avLst/>
          </a:prstGeom>
          <a:ln>
            <a:noFill/>
          </a:ln>
        </p:spPr>
      </p:pic>
      <p:sp>
        <p:nvSpPr>
          <p:cNvPr id="643557129" name="ScreenshotCard 28"/>
          <p:cNvSpPr/>
          <p:nvPr/>
        </p:nvSpPr>
        <p:spPr bwMode="auto">
          <a:xfrm>
            <a:off x="9738360" y="1783080"/>
            <a:ext cx="1828800" cy="3611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720965685" name="AccentBar 29"/>
          <p:cNvSpPr/>
          <p:nvPr/>
        </p:nvSpPr>
        <p:spPr bwMode="auto">
          <a:xfrm>
            <a:off x="9902952" y="1947671"/>
            <a:ext cx="109728" cy="3282696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788216966" name="TextBox 30"/>
          <p:cNvSpPr/>
          <p:nvPr/>
        </p:nvSpPr>
        <p:spPr bwMode="auto">
          <a:xfrm>
            <a:off x="10122408" y="1947671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Coach UI</a:t>
            </a:r>
            <a:endParaRPr lang="en-US" sz="1300"/>
          </a:p>
        </p:txBody>
      </p:sp>
      <p:pic>
        <p:nvPicPr>
          <p:cNvPr id="1836683622" name="Coach UI 3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101361" y="2286000"/>
            <a:ext cx="1102798" cy="2889504"/>
          </a:xfrm>
          <a:prstGeom prst="rect">
            <a:avLst/>
          </a:prstGeom>
          <a:ln>
            <a:noFill/>
          </a:ln>
        </p:spPr>
      </p:pic>
      <p:sp>
        <p:nvSpPr>
          <p:cNvPr id="1665112822" name="TextBox 32"/>
          <p:cNvSpPr/>
          <p:nvPr/>
        </p:nvSpPr>
        <p:spPr bwMode="auto">
          <a:xfrm>
            <a:off x="5532120" y="55961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 b="1">
                <a:solidFill>
                  <a:srgbClr val="F4F5FB"/>
                </a:solidFill>
                <a:latin typeface="Aptos"/>
              </a:rPr>
              <a:t>Representative flow: User action -&gt; ViewModel -&gt; Repository -&gt; API / Local service -&gt; Updated UI state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Design Highligh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857461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1176142938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445708289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1453574482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537089391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UI/UX Design Highlights</a:t>
            </a:r>
            <a:endParaRPr lang="en-US" sz="2800"/>
          </a:p>
        </p:txBody>
      </p:sp>
      <p:sp>
        <p:nvSpPr>
          <p:cNvPr id="1968831858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>
                <a:solidFill>
                  <a:srgbClr val="9AA0C0"/>
                </a:solidFill>
                <a:latin typeface="Aptos"/>
              </a:rPr>
              <a:t>The design language aims to feel calm, premium, and easy to navigate while keeping sleep metrics and actions visually clear.</a:t>
            </a:r>
            <a:endParaRPr lang="en-US" sz="1350"/>
          </a:p>
        </p:txBody>
      </p:sp>
      <p:sp>
        <p:nvSpPr>
          <p:cNvPr id="1190867882" name="ScreenshotCard 8"/>
          <p:cNvSpPr/>
          <p:nvPr/>
        </p:nvSpPr>
        <p:spPr bwMode="auto">
          <a:xfrm>
            <a:off x="868680" y="1847088"/>
            <a:ext cx="1874519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234944988" name="AccentBar 9"/>
          <p:cNvSpPr/>
          <p:nvPr/>
        </p:nvSpPr>
        <p:spPr bwMode="auto">
          <a:xfrm>
            <a:off x="1033271" y="2011680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1776160956" name="TextBox 10"/>
          <p:cNvSpPr/>
          <p:nvPr/>
        </p:nvSpPr>
        <p:spPr bwMode="auto">
          <a:xfrm>
            <a:off x="1252728" y="2011680"/>
            <a:ext cx="123443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Welcome</a:t>
            </a:r>
            <a:endParaRPr lang="en-US" sz="1300"/>
          </a:p>
        </p:txBody>
      </p:sp>
      <p:pic>
        <p:nvPicPr>
          <p:cNvPr id="723429697" name="Welcom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1560" y="2544903"/>
            <a:ext cx="1508759" cy="2865472"/>
          </a:xfrm>
          <a:prstGeom prst="rect">
            <a:avLst/>
          </a:prstGeom>
          <a:ln>
            <a:noFill/>
          </a:ln>
        </p:spPr>
      </p:pic>
      <p:sp>
        <p:nvSpPr>
          <p:cNvPr id="518841401" name="ScreenshotCard 12"/>
          <p:cNvSpPr/>
          <p:nvPr/>
        </p:nvSpPr>
        <p:spPr bwMode="auto">
          <a:xfrm>
            <a:off x="2971800" y="1847088"/>
            <a:ext cx="1874519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537147270" name="AccentBar 13"/>
          <p:cNvSpPr/>
          <p:nvPr/>
        </p:nvSpPr>
        <p:spPr bwMode="auto">
          <a:xfrm>
            <a:off x="3136392" y="2011680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412462574" name="TextBox 14"/>
          <p:cNvSpPr/>
          <p:nvPr/>
        </p:nvSpPr>
        <p:spPr bwMode="auto">
          <a:xfrm>
            <a:off x="3355848" y="2011680"/>
            <a:ext cx="123443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Dashboard</a:t>
            </a:r>
            <a:endParaRPr lang="en-US" sz="1300"/>
          </a:p>
        </p:txBody>
      </p:sp>
      <p:pic>
        <p:nvPicPr>
          <p:cNvPr id="852120777" name="Dashboard 1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78137" y="2350008"/>
            <a:ext cx="1261844" cy="3255263"/>
          </a:xfrm>
          <a:prstGeom prst="rect">
            <a:avLst/>
          </a:prstGeom>
          <a:ln>
            <a:noFill/>
          </a:ln>
        </p:spPr>
      </p:pic>
      <p:sp>
        <p:nvSpPr>
          <p:cNvPr id="194408583" name="ScreenshotCard 16"/>
          <p:cNvSpPr/>
          <p:nvPr/>
        </p:nvSpPr>
        <p:spPr bwMode="auto">
          <a:xfrm>
            <a:off x="5074920" y="1847088"/>
            <a:ext cx="1874519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875803925" name="AccentBar 17"/>
          <p:cNvSpPr/>
          <p:nvPr/>
        </p:nvSpPr>
        <p:spPr bwMode="auto">
          <a:xfrm>
            <a:off x="5239512" y="2011680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494950687" name="TextBox 18"/>
          <p:cNvSpPr/>
          <p:nvPr/>
        </p:nvSpPr>
        <p:spPr bwMode="auto">
          <a:xfrm>
            <a:off x="5458968" y="2011680"/>
            <a:ext cx="123443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Analytics</a:t>
            </a:r>
            <a:endParaRPr lang="en-US" sz="1300"/>
          </a:p>
        </p:txBody>
      </p:sp>
      <p:pic>
        <p:nvPicPr>
          <p:cNvPr id="2133347276" name="Analytics 1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437721" y="2350008"/>
            <a:ext cx="1148916" cy="3255263"/>
          </a:xfrm>
          <a:prstGeom prst="rect">
            <a:avLst/>
          </a:prstGeom>
          <a:ln>
            <a:noFill/>
          </a:ln>
        </p:spPr>
      </p:pic>
      <p:sp>
        <p:nvSpPr>
          <p:cNvPr id="919193955" name="ScreenshotCard 20"/>
          <p:cNvSpPr/>
          <p:nvPr/>
        </p:nvSpPr>
        <p:spPr bwMode="auto">
          <a:xfrm>
            <a:off x="7178039" y="1847088"/>
            <a:ext cx="1874519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289300744" name="AccentBar 21"/>
          <p:cNvSpPr/>
          <p:nvPr/>
        </p:nvSpPr>
        <p:spPr bwMode="auto">
          <a:xfrm>
            <a:off x="7342631" y="2011680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2003896038" name="TextBox 22"/>
          <p:cNvSpPr/>
          <p:nvPr/>
        </p:nvSpPr>
        <p:spPr bwMode="auto">
          <a:xfrm>
            <a:off x="7562088" y="2011680"/>
            <a:ext cx="123443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Coach</a:t>
            </a:r>
            <a:endParaRPr lang="en-US" sz="1300"/>
          </a:p>
        </p:txBody>
      </p:sp>
      <p:pic>
        <p:nvPicPr>
          <p:cNvPr id="8764344" name="Coach 2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494103" y="2350008"/>
            <a:ext cx="1242393" cy="3255263"/>
          </a:xfrm>
          <a:prstGeom prst="rect">
            <a:avLst/>
          </a:prstGeom>
          <a:ln>
            <a:noFill/>
          </a:ln>
        </p:spPr>
      </p:pic>
      <p:sp>
        <p:nvSpPr>
          <p:cNvPr id="1722194808" name="InfoCard 24"/>
          <p:cNvSpPr/>
          <p:nvPr/>
        </p:nvSpPr>
        <p:spPr bwMode="auto">
          <a:xfrm>
            <a:off x="9281160" y="1828800"/>
            <a:ext cx="2057400" cy="91440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236337382" name="AccentBar 25"/>
          <p:cNvSpPr/>
          <p:nvPr/>
        </p:nvSpPr>
        <p:spPr bwMode="auto">
          <a:xfrm>
            <a:off x="9445752" y="1993392"/>
            <a:ext cx="109728" cy="585216"/>
          </a:xfrm>
          <a:prstGeom prst="roundRect">
            <a:avLst>
              <a:gd name="adj" fmla="val 16667"/>
            </a:avLst>
          </a:prstGeom>
          <a:solidFill>
            <a:srgbClr val="7FE3C4">
              <a:alpha val="100000"/>
            </a:srgbClr>
          </a:solidFill>
          <a:ln>
            <a:noFill/>
          </a:ln>
        </p:spPr>
      </p:sp>
      <p:sp>
        <p:nvSpPr>
          <p:cNvPr id="931098045" name="TextBox 26"/>
          <p:cNvSpPr/>
          <p:nvPr/>
        </p:nvSpPr>
        <p:spPr bwMode="auto">
          <a:xfrm>
            <a:off x="9665208" y="20574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Palette</a:t>
            </a:r>
            <a:endParaRPr lang="en-US" sz="1350"/>
          </a:p>
        </p:txBody>
      </p:sp>
      <p:sp>
        <p:nvSpPr>
          <p:cNvPr id="276560088" name="TextBox 27"/>
          <p:cNvSpPr/>
          <p:nvPr/>
        </p:nvSpPr>
        <p:spPr bwMode="auto">
          <a:xfrm>
            <a:off x="9665208" y="2395728"/>
            <a:ext cx="1490472" cy="182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Dark night palette with soft accent glow.</a:t>
            </a:r>
            <a:endParaRPr lang="en-US" sz="1100"/>
          </a:p>
        </p:txBody>
      </p:sp>
      <p:sp>
        <p:nvSpPr>
          <p:cNvPr id="417457243" name="InfoCard 28"/>
          <p:cNvSpPr/>
          <p:nvPr/>
        </p:nvSpPr>
        <p:spPr bwMode="auto">
          <a:xfrm>
            <a:off x="9281160" y="2907792"/>
            <a:ext cx="2057400" cy="91440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62520180" name="AccentBar 29"/>
          <p:cNvSpPr/>
          <p:nvPr/>
        </p:nvSpPr>
        <p:spPr bwMode="auto">
          <a:xfrm>
            <a:off x="9445752" y="3072384"/>
            <a:ext cx="109728" cy="585216"/>
          </a:xfrm>
          <a:prstGeom prst="roundRect">
            <a:avLst>
              <a:gd name="adj" fmla="val 16667"/>
            </a:avLst>
          </a:prstGeom>
          <a:solidFill>
            <a:srgbClr val="A69DFF">
              <a:alpha val="100000"/>
            </a:srgbClr>
          </a:solidFill>
          <a:ln>
            <a:noFill/>
          </a:ln>
        </p:spPr>
      </p:sp>
      <p:sp>
        <p:nvSpPr>
          <p:cNvPr id="387715952" name="TextBox 30"/>
          <p:cNvSpPr/>
          <p:nvPr/>
        </p:nvSpPr>
        <p:spPr bwMode="auto">
          <a:xfrm>
            <a:off x="9665208" y="31363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Hierarchy</a:t>
            </a:r>
            <a:endParaRPr lang="en-US" sz="1350"/>
          </a:p>
        </p:txBody>
      </p:sp>
      <p:sp>
        <p:nvSpPr>
          <p:cNvPr id="1951403703" name="TextBox 31"/>
          <p:cNvSpPr/>
          <p:nvPr/>
        </p:nvSpPr>
        <p:spPr bwMode="auto">
          <a:xfrm>
            <a:off x="9665208" y="3474720"/>
            <a:ext cx="1490472" cy="182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Large cards highlight the most important metrics first.</a:t>
            </a:r>
            <a:endParaRPr lang="en-US" sz="1100"/>
          </a:p>
        </p:txBody>
      </p:sp>
      <p:sp>
        <p:nvSpPr>
          <p:cNvPr id="722683983" name="InfoCard 32"/>
          <p:cNvSpPr/>
          <p:nvPr/>
        </p:nvSpPr>
        <p:spPr bwMode="auto">
          <a:xfrm>
            <a:off x="9281160" y="3986784"/>
            <a:ext cx="2057400" cy="91440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415027512" name="AccentBar 33"/>
          <p:cNvSpPr/>
          <p:nvPr/>
        </p:nvSpPr>
        <p:spPr bwMode="auto">
          <a:xfrm>
            <a:off x="9445752" y="4151376"/>
            <a:ext cx="109728" cy="585216"/>
          </a:xfrm>
          <a:prstGeom prst="roundRect">
            <a:avLst>
              <a:gd name="adj" fmla="val 16667"/>
            </a:avLst>
          </a:prstGeom>
          <a:solidFill>
            <a:srgbClr val="7C6FF0">
              <a:alpha val="100000"/>
            </a:srgbClr>
          </a:solidFill>
          <a:ln>
            <a:noFill/>
          </a:ln>
        </p:spPr>
      </p:sp>
      <p:sp>
        <p:nvSpPr>
          <p:cNvPr id="245317873" name="TextBox 34"/>
          <p:cNvSpPr/>
          <p:nvPr/>
        </p:nvSpPr>
        <p:spPr bwMode="auto">
          <a:xfrm>
            <a:off x="9665208" y="4215384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Flow</a:t>
            </a:r>
            <a:endParaRPr lang="en-US" sz="1350"/>
          </a:p>
        </p:txBody>
      </p:sp>
      <p:sp>
        <p:nvSpPr>
          <p:cNvPr id="571498194" name="TextBox 35"/>
          <p:cNvSpPr/>
          <p:nvPr/>
        </p:nvSpPr>
        <p:spPr bwMode="auto">
          <a:xfrm>
            <a:off x="9665208" y="4553712"/>
            <a:ext cx="1490472" cy="182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Onboarding and core navigation stay simple and guided.</a:t>
            </a:r>
            <a:endParaRPr lang="en-US" sz="1100"/>
          </a:p>
        </p:txBody>
      </p:sp>
      <p:sp>
        <p:nvSpPr>
          <p:cNvPr id="1816352036" name="InfoCard 36"/>
          <p:cNvSpPr/>
          <p:nvPr/>
        </p:nvSpPr>
        <p:spPr bwMode="auto">
          <a:xfrm>
            <a:off x="9281160" y="5065776"/>
            <a:ext cx="2057400" cy="91440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248128939" name="AccentBar 37"/>
          <p:cNvSpPr/>
          <p:nvPr/>
        </p:nvSpPr>
        <p:spPr bwMode="auto">
          <a:xfrm>
            <a:off x="9445752" y="5230368"/>
            <a:ext cx="109728" cy="585216"/>
          </a:xfrm>
          <a:prstGeom prst="roundRect">
            <a:avLst>
              <a:gd name="adj" fmla="val 16667"/>
            </a:avLst>
          </a:prstGeom>
          <a:solidFill>
            <a:srgbClr val="7FE3C4">
              <a:alpha val="100000"/>
            </a:srgbClr>
          </a:solidFill>
          <a:ln>
            <a:noFill/>
          </a:ln>
        </p:spPr>
      </p:sp>
      <p:sp>
        <p:nvSpPr>
          <p:cNvPr id="1784304864" name="TextBox 38"/>
          <p:cNvSpPr/>
          <p:nvPr/>
        </p:nvSpPr>
        <p:spPr bwMode="auto">
          <a:xfrm>
            <a:off x="9665208" y="5294376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Consistency</a:t>
            </a:r>
            <a:endParaRPr lang="en-US" sz="1350"/>
          </a:p>
        </p:txBody>
      </p:sp>
      <p:sp>
        <p:nvSpPr>
          <p:cNvPr id="1630262207" name="TextBox 39"/>
          <p:cNvSpPr/>
          <p:nvPr/>
        </p:nvSpPr>
        <p:spPr bwMode="auto">
          <a:xfrm>
            <a:off x="9665208" y="5632704"/>
            <a:ext cx="1490472" cy="182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Reusable card shapes and spacing unify the app.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Main Screens and User Flow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027072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1638636663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446735585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1228561904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55999410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Main Screens and User Flow</a:t>
            </a:r>
            <a:endParaRPr lang="en-US" sz="2800"/>
          </a:p>
        </p:txBody>
      </p:sp>
      <p:sp>
        <p:nvSpPr>
          <p:cNvPr id="786387830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>
                <a:solidFill>
                  <a:srgbClr val="9AA0C0"/>
                </a:solidFill>
                <a:latin typeface="Aptos"/>
              </a:rPr>
              <a:t>The presentation demo follows a simple flow from entry to daily usage: authentication, dashboard, data capture, insights, and support.</a:t>
            </a:r>
            <a:endParaRPr lang="en-US" sz="1350"/>
          </a:p>
        </p:txBody>
      </p:sp>
      <p:sp>
        <p:nvSpPr>
          <p:cNvPr id="886937946" name="ScreenshotCard 8"/>
          <p:cNvSpPr/>
          <p:nvPr/>
        </p:nvSpPr>
        <p:spPr bwMode="auto">
          <a:xfrm>
            <a:off x="841248" y="1828800"/>
            <a:ext cx="1828800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172156077" name="AccentBar 9"/>
          <p:cNvSpPr/>
          <p:nvPr/>
        </p:nvSpPr>
        <p:spPr bwMode="auto">
          <a:xfrm>
            <a:off x="1005840" y="1993392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1547762369" name="TextBox 10"/>
          <p:cNvSpPr/>
          <p:nvPr/>
        </p:nvSpPr>
        <p:spPr bwMode="auto">
          <a:xfrm>
            <a:off x="1225296" y="19933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Sign In</a:t>
            </a:r>
            <a:endParaRPr lang="en-US" sz="1300"/>
          </a:p>
        </p:txBody>
      </p:sp>
      <p:sp>
        <p:nvSpPr>
          <p:cNvPr id="1889778411" name="TextBox 11"/>
          <p:cNvSpPr/>
          <p:nvPr/>
        </p:nvSpPr>
        <p:spPr bwMode="auto">
          <a:xfrm>
            <a:off x="1225296" y="54223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900">
                <a:solidFill>
                  <a:srgbClr val="9AA0C0"/>
                </a:solidFill>
                <a:latin typeface="Aptos"/>
              </a:rPr>
              <a:t>Returning user entry</a:t>
            </a:r>
            <a:endParaRPr lang="en-US" sz="900"/>
          </a:p>
        </p:txBody>
      </p:sp>
      <p:pic>
        <p:nvPicPr>
          <p:cNvPr id="360040175" name="Sign In 1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4128" y="2442015"/>
            <a:ext cx="1463040" cy="2778641"/>
          </a:xfrm>
          <a:prstGeom prst="rect">
            <a:avLst/>
          </a:prstGeom>
          <a:ln>
            <a:noFill/>
          </a:ln>
        </p:spPr>
      </p:pic>
      <p:sp>
        <p:nvSpPr>
          <p:cNvPr id="170909833" name="ScreenshotCard 13"/>
          <p:cNvSpPr/>
          <p:nvPr/>
        </p:nvSpPr>
        <p:spPr bwMode="auto">
          <a:xfrm>
            <a:off x="2953512" y="1664208"/>
            <a:ext cx="1965960" cy="416051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373602693" name="AccentBar 14"/>
          <p:cNvSpPr/>
          <p:nvPr/>
        </p:nvSpPr>
        <p:spPr bwMode="auto">
          <a:xfrm>
            <a:off x="3118104" y="1828800"/>
            <a:ext cx="109728" cy="3831335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694054445" name="TextBox 15"/>
          <p:cNvSpPr/>
          <p:nvPr/>
        </p:nvSpPr>
        <p:spPr bwMode="auto">
          <a:xfrm>
            <a:off x="3337560" y="1828800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Home</a:t>
            </a:r>
            <a:endParaRPr lang="en-US" sz="1300"/>
          </a:p>
        </p:txBody>
      </p:sp>
      <p:sp>
        <p:nvSpPr>
          <p:cNvPr id="541913448" name="TextBox 16"/>
          <p:cNvSpPr/>
          <p:nvPr/>
        </p:nvSpPr>
        <p:spPr bwMode="auto">
          <a:xfrm>
            <a:off x="3337560" y="5440680"/>
            <a:ext cx="134416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900">
                <a:solidFill>
                  <a:srgbClr val="9AA0C0"/>
                </a:solidFill>
                <a:latin typeface="Aptos"/>
              </a:rPr>
              <a:t>Immediate overview and actions</a:t>
            </a:r>
            <a:endParaRPr lang="en-US" sz="900"/>
          </a:p>
        </p:txBody>
      </p:sp>
      <p:pic>
        <p:nvPicPr>
          <p:cNvPr id="1507594495" name="Home 1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19748" y="2167128"/>
            <a:ext cx="1233488" cy="3182112"/>
          </a:xfrm>
          <a:prstGeom prst="rect">
            <a:avLst/>
          </a:prstGeom>
          <a:ln>
            <a:noFill/>
          </a:ln>
        </p:spPr>
      </p:pic>
      <p:sp>
        <p:nvSpPr>
          <p:cNvPr id="1452696319" name="ScreenshotCard 18"/>
          <p:cNvSpPr/>
          <p:nvPr/>
        </p:nvSpPr>
        <p:spPr bwMode="auto">
          <a:xfrm>
            <a:off x="5193792" y="1828800"/>
            <a:ext cx="1828800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361729697" name="AccentBar 19"/>
          <p:cNvSpPr/>
          <p:nvPr/>
        </p:nvSpPr>
        <p:spPr bwMode="auto">
          <a:xfrm>
            <a:off x="5358383" y="1993392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1354685104" name="TextBox 20"/>
          <p:cNvSpPr/>
          <p:nvPr/>
        </p:nvSpPr>
        <p:spPr bwMode="auto">
          <a:xfrm>
            <a:off x="5577840" y="19933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Sleep Log</a:t>
            </a:r>
            <a:endParaRPr lang="en-US" sz="1300"/>
          </a:p>
        </p:txBody>
      </p:sp>
      <p:sp>
        <p:nvSpPr>
          <p:cNvPr id="1528805302" name="TextBox 21"/>
          <p:cNvSpPr/>
          <p:nvPr/>
        </p:nvSpPr>
        <p:spPr bwMode="auto">
          <a:xfrm>
            <a:off x="5577840" y="54223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900">
                <a:solidFill>
                  <a:srgbClr val="9AA0C0"/>
                </a:solidFill>
                <a:latin typeface="Aptos"/>
              </a:rPr>
              <a:t>Capture behaviour and quality</a:t>
            </a:r>
            <a:endParaRPr lang="en-US" sz="900"/>
          </a:p>
        </p:txBody>
      </p:sp>
      <p:pic>
        <p:nvPicPr>
          <p:cNvPr id="372857780" name="Sleep Log 2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478060" y="2331720"/>
            <a:ext cx="1260263" cy="2999231"/>
          </a:xfrm>
          <a:prstGeom prst="rect">
            <a:avLst/>
          </a:prstGeom>
          <a:ln>
            <a:noFill/>
          </a:ln>
        </p:spPr>
      </p:pic>
      <p:sp>
        <p:nvSpPr>
          <p:cNvPr id="789242574" name="ScreenshotCard 23"/>
          <p:cNvSpPr/>
          <p:nvPr/>
        </p:nvSpPr>
        <p:spPr bwMode="auto">
          <a:xfrm>
            <a:off x="7306056" y="1828800"/>
            <a:ext cx="1828800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150952215" name="AccentBar 24"/>
          <p:cNvSpPr/>
          <p:nvPr/>
        </p:nvSpPr>
        <p:spPr bwMode="auto">
          <a:xfrm>
            <a:off x="7470648" y="1993392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1889190159" name="TextBox 25"/>
          <p:cNvSpPr/>
          <p:nvPr/>
        </p:nvSpPr>
        <p:spPr bwMode="auto">
          <a:xfrm>
            <a:off x="7690104" y="19933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Alarm</a:t>
            </a:r>
            <a:endParaRPr lang="en-US" sz="1300"/>
          </a:p>
        </p:txBody>
      </p:sp>
      <p:sp>
        <p:nvSpPr>
          <p:cNvPr id="1627093150" name="TextBox 26"/>
          <p:cNvSpPr/>
          <p:nvPr/>
        </p:nvSpPr>
        <p:spPr bwMode="auto">
          <a:xfrm>
            <a:off x="7690104" y="54223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900">
                <a:solidFill>
                  <a:srgbClr val="9AA0C0"/>
                </a:solidFill>
                <a:latin typeface="Aptos"/>
              </a:rPr>
              <a:t>Plan the wake-up routine</a:t>
            </a:r>
            <a:endParaRPr lang="en-US" sz="900"/>
          </a:p>
        </p:txBody>
      </p:sp>
      <p:pic>
        <p:nvPicPr>
          <p:cNvPr id="842500356" name="Alarm 27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735618" y="2331720"/>
            <a:ext cx="969676" cy="2999231"/>
          </a:xfrm>
          <a:prstGeom prst="rect">
            <a:avLst/>
          </a:prstGeom>
          <a:ln>
            <a:noFill/>
          </a:ln>
        </p:spPr>
      </p:pic>
      <p:sp>
        <p:nvSpPr>
          <p:cNvPr id="1271524276" name="ScreenshotCard 28"/>
          <p:cNvSpPr/>
          <p:nvPr/>
        </p:nvSpPr>
        <p:spPr bwMode="auto">
          <a:xfrm>
            <a:off x="9418320" y="1828800"/>
            <a:ext cx="1828800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293241504" name="AccentBar 29"/>
          <p:cNvSpPr/>
          <p:nvPr/>
        </p:nvSpPr>
        <p:spPr bwMode="auto">
          <a:xfrm>
            <a:off x="9582912" y="1993392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1553984795" name="TextBox 30"/>
          <p:cNvSpPr/>
          <p:nvPr/>
        </p:nvSpPr>
        <p:spPr bwMode="auto">
          <a:xfrm>
            <a:off x="9802368" y="19933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Analytics</a:t>
            </a:r>
            <a:endParaRPr lang="en-US" sz="1300"/>
          </a:p>
        </p:txBody>
      </p:sp>
      <p:sp>
        <p:nvSpPr>
          <p:cNvPr id="2103166885" name="TextBox 31"/>
          <p:cNvSpPr/>
          <p:nvPr/>
        </p:nvSpPr>
        <p:spPr bwMode="auto">
          <a:xfrm>
            <a:off x="9802368" y="54223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900">
                <a:solidFill>
                  <a:srgbClr val="9AA0C0"/>
                </a:solidFill>
                <a:latin typeface="Aptos"/>
              </a:rPr>
              <a:t>Review trends and results</a:t>
            </a:r>
            <a:endParaRPr lang="en-US" sz="900"/>
          </a:p>
        </p:txBody>
      </p:sp>
      <p:pic>
        <p:nvPicPr>
          <p:cNvPr id="1305328616" name="Analytics 3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803444" y="2331720"/>
            <a:ext cx="1058552" cy="2999231"/>
          </a:xfrm>
          <a:prstGeom prst="rect">
            <a:avLst/>
          </a:prstGeom>
          <a:ln>
            <a:noFill/>
          </a:ln>
        </p:spPr>
      </p:pic>
      <p:sp>
        <p:nvSpPr>
          <p:cNvPr id="2145024652" name="TextBox 33"/>
          <p:cNvSpPr/>
          <p:nvPr/>
        </p:nvSpPr>
        <p:spPr bwMode="auto">
          <a:xfrm>
            <a:off x="960120" y="582472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50" b="1">
                <a:solidFill>
                  <a:srgbClr val="F4F5FB"/>
                </a:solidFill>
                <a:latin typeface="Aptos"/>
              </a:rPr>
              <a:t>Presentation demo flow: Sign In -&gt; Home -&gt; Sleep Log -&gt; Smart Alarm -&gt; Analytics -&gt; Coach -&gt; Profile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Challenges and Soluti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367602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635803030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2077532485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281504787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657177003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Challenges and Solutions</a:t>
            </a:r>
            <a:endParaRPr lang="en-US" sz="2800"/>
          </a:p>
        </p:txBody>
      </p:sp>
      <p:sp>
        <p:nvSpPr>
          <p:cNvPr id="627183228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>
                <a:solidFill>
                  <a:srgbClr val="9AA0C0"/>
                </a:solidFill>
                <a:latin typeface="Aptos"/>
              </a:rPr>
              <a:t>The project required both design and engineering tradeoffs, especially when moving from polished mockups into a working Compose application.</a:t>
            </a:r>
            <a:endParaRPr lang="en-US" sz="1350"/>
          </a:p>
        </p:txBody>
      </p:sp>
      <p:sp>
        <p:nvSpPr>
          <p:cNvPr id="1025217837" name="Challenge 8"/>
          <p:cNvSpPr/>
          <p:nvPr/>
        </p:nvSpPr>
        <p:spPr bwMode="auto">
          <a:xfrm>
            <a:off x="841248" y="1828800"/>
            <a:ext cx="4572000" cy="146304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C6FF0">
                <a:alpha val="40000"/>
              </a:srgbClr>
            </a:solidFill>
            <a:prstDash val="solid"/>
          </a:ln>
        </p:spPr>
      </p:sp>
      <p:sp>
        <p:nvSpPr>
          <p:cNvPr id="639406598" name="AccentBar 9"/>
          <p:cNvSpPr/>
          <p:nvPr/>
        </p:nvSpPr>
        <p:spPr bwMode="auto">
          <a:xfrm>
            <a:off x="1005840" y="1993392"/>
            <a:ext cx="109728" cy="11338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6137748" name="TextBox 10"/>
          <p:cNvSpPr/>
          <p:nvPr/>
        </p:nvSpPr>
        <p:spPr bwMode="auto">
          <a:xfrm>
            <a:off x="1225296" y="20116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500" b="1">
                <a:solidFill>
                  <a:srgbClr val="F4F5FB"/>
                </a:solidFill>
                <a:latin typeface="Aptos"/>
              </a:rPr>
              <a:t>UI consistency</a:t>
            </a:r>
            <a:endParaRPr lang="en-US" sz="1500"/>
          </a:p>
        </p:txBody>
      </p:sp>
      <p:sp>
        <p:nvSpPr>
          <p:cNvPr id="1045252237" name="TextBox 11"/>
          <p:cNvSpPr/>
          <p:nvPr/>
        </p:nvSpPr>
        <p:spPr bwMode="auto">
          <a:xfrm>
            <a:off x="1225296" y="2377440"/>
            <a:ext cx="382219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Challenge: keep the HTML-inspired premium look inside Compose.</a:t>
            </a:r>
            <a:endParaRPr lang="en-US" sz="1000"/>
          </a:p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Solution: reusable design-system cards, buttons, and shared color tokens.</a:t>
            </a:r>
            <a:endParaRPr lang="en-US" sz="1000"/>
          </a:p>
        </p:txBody>
      </p:sp>
      <p:sp>
        <p:nvSpPr>
          <p:cNvPr id="80253779" name="Challenge 12"/>
          <p:cNvSpPr/>
          <p:nvPr/>
        </p:nvSpPr>
        <p:spPr bwMode="auto">
          <a:xfrm>
            <a:off x="5897880" y="1828800"/>
            <a:ext cx="4572000" cy="146304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FE3C4">
                <a:alpha val="40000"/>
              </a:srgbClr>
            </a:solidFill>
            <a:prstDash val="solid"/>
          </a:ln>
        </p:spPr>
      </p:sp>
      <p:sp>
        <p:nvSpPr>
          <p:cNvPr id="1629987628" name="AccentBar 13"/>
          <p:cNvSpPr/>
          <p:nvPr/>
        </p:nvSpPr>
        <p:spPr bwMode="auto">
          <a:xfrm>
            <a:off x="6062471" y="1993392"/>
            <a:ext cx="109728" cy="113385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256928866" name="TextBox 14"/>
          <p:cNvSpPr/>
          <p:nvPr/>
        </p:nvSpPr>
        <p:spPr bwMode="auto">
          <a:xfrm>
            <a:off x="6281928" y="20116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500" b="1">
                <a:solidFill>
                  <a:srgbClr val="F4F5FB"/>
                </a:solidFill>
                <a:latin typeface="Aptos"/>
              </a:rPr>
              <a:t>State management</a:t>
            </a:r>
            <a:endParaRPr lang="en-US" sz="1500"/>
          </a:p>
        </p:txBody>
      </p:sp>
      <p:sp>
        <p:nvSpPr>
          <p:cNvPr id="830264357" name="TextBox 15"/>
          <p:cNvSpPr/>
          <p:nvPr/>
        </p:nvSpPr>
        <p:spPr bwMode="auto">
          <a:xfrm>
            <a:off x="6281928" y="2377440"/>
            <a:ext cx="382219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Challenge: coordinate auth, onboarding, and feature states cleanly.</a:t>
            </a:r>
            <a:endParaRPr lang="en-US" sz="1000"/>
          </a:p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Solution: screen-specific ViewModels with StateFlow-based UI state.</a:t>
            </a:r>
            <a:endParaRPr lang="en-US" sz="1000"/>
          </a:p>
        </p:txBody>
      </p:sp>
      <p:sp>
        <p:nvSpPr>
          <p:cNvPr id="1020119847" name="Challenge 16"/>
          <p:cNvSpPr/>
          <p:nvPr/>
        </p:nvSpPr>
        <p:spPr bwMode="auto">
          <a:xfrm>
            <a:off x="841248" y="3794760"/>
            <a:ext cx="4572000" cy="146304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A69DFF">
                <a:alpha val="40000"/>
              </a:srgbClr>
            </a:solidFill>
            <a:prstDash val="solid"/>
          </a:ln>
        </p:spPr>
      </p:sp>
      <p:sp>
        <p:nvSpPr>
          <p:cNvPr id="1501572309" name="AccentBar 17"/>
          <p:cNvSpPr/>
          <p:nvPr/>
        </p:nvSpPr>
        <p:spPr bwMode="auto">
          <a:xfrm>
            <a:off x="1005840" y="3959352"/>
            <a:ext cx="109728" cy="1133856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1344297637" name="TextBox 18"/>
          <p:cNvSpPr/>
          <p:nvPr/>
        </p:nvSpPr>
        <p:spPr bwMode="auto">
          <a:xfrm>
            <a:off x="1225296" y="39776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500" b="1">
                <a:solidFill>
                  <a:srgbClr val="F4F5FB"/>
                </a:solidFill>
                <a:latin typeface="Aptos"/>
              </a:rPr>
              <a:t>Data reliability</a:t>
            </a:r>
            <a:endParaRPr lang="en-US" sz="1500"/>
          </a:p>
        </p:txBody>
      </p:sp>
      <p:sp>
        <p:nvSpPr>
          <p:cNvPr id="1596133157" name="TextBox 19"/>
          <p:cNvSpPr/>
          <p:nvPr/>
        </p:nvSpPr>
        <p:spPr bwMode="auto">
          <a:xfrm>
            <a:off x="1225296" y="4343400"/>
            <a:ext cx="382219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Challenge: support remote data without breaking demo stability.</a:t>
            </a:r>
            <a:endParaRPr lang="en-US" sz="1000"/>
          </a:p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Solution: repositories combine API calls with fallback demo content.</a:t>
            </a:r>
            <a:endParaRPr lang="en-US" sz="1000"/>
          </a:p>
        </p:txBody>
      </p:sp>
      <p:sp>
        <p:nvSpPr>
          <p:cNvPr id="692825934" name="Challenge 20"/>
          <p:cNvSpPr/>
          <p:nvPr/>
        </p:nvSpPr>
        <p:spPr bwMode="auto">
          <a:xfrm>
            <a:off x="5897880" y="3794760"/>
            <a:ext cx="4572000" cy="146304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C6FF0">
                <a:alpha val="40000"/>
              </a:srgbClr>
            </a:solidFill>
            <a:prstDash val="solid"/>
          </a:ln>
        </p:spPr>
      </p:sp>
      <p:sp>
        <p:nvSpPr>
          <p:cNvPr id="371130454" name="AccentBar 21"/>
          <p:cNvSpPr/>
          <p:nvPr/>
        </p:nvSpPr>
        <p:spPr bwMode="auto">
          <a:xfrm>
            <a:off x="6062471" y="3959352"/>
            <a:ext cx="109728" cy="11338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74565587" name="TextBox 22"/>
          <p:cNvSpPr/>
          <p:nvPr/>
        </p:nvSpPr>
        <p:spPr bwMode="auto">
          <a:xfrm>
            <a:off x="6281928" y="39776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500" b="1">
                <a:solidFill>
                  <a:srgbClr val="F4F5FB"/>
                </a:solidFill>
                <a:latin typeface="Aptos"/>
              </a:rPr>
              <a:t>Alarm realism</a:t>
            </a:r>
            <a:endParaRPr lang="en-US" sz="1500"/>
          </a:p>
        </p:txBody>
      </p:sp>
      <p:sp>
        <p:nvSpPr>
          <p:cNvPr id="699369130" name="TextBox 23"/>
          <p:cNvSpPr/>
          <p:nvPr/>
        </p:nvSpPr>
        <p:spPr bwMode="auto">
          <a:xfrm>
            <a:off x="6281928" y="4343400"/>
            <a:ext cx="382219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Challenge: make the alarm flow more than a static settings screen.</a:t>
            </a:r>
            <a:endParaRPr lang="en-US" sz="1000"/>
          </a:p>
          <a:p>
            <a:pPr algn="l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Solution: local scheduling plus notification receiver support.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Development Timeli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453916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1752209676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177239031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126465182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955250056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Development Timeline</a:t>
            </a:r>
            <a:endParaRPr lang="en-US" sz="2800"/>
          </a:p>
        </p:txBody>
      </p:sp>
      <p:sp>
        <p:nvSpPr>
          <p:cNvPr id="1766115810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>
                <a:solidFill>
                  <a:srgbClr val="9AA0C0"/>
                </a:solidFill>
                <a:latin typeface="Aptos"/>
              </a:rPr>
              <a:t>The project progressed through clear milestones from problem framing to design, implementation, integration, and presentation readiness.</a:t>
            </a:r>
            <a:endParaRPr lang="en-US" sz="1350"/>
          </a:p>
        </p:txBody>
      </p:sp>
      <p:sp>
        <p:nvSpPr>
          <p:cNvPr id="1547710603" name="Milestone 8"/>
          <p:cNvSpPr/>
          <p:nvPr/>
        </p:nvSpPr>
        <p:spPr bwMode="auto">
          <a:xfrm>
            <a:off x="658368" y="2240280"/>
            <a:ext cx="1874519" cy="233172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C6FF0">
                <a:alpha val="40000"/>
              </a:srgbClr>
            </a:solidFill>
            <a:prstDash val="solid"/>
          </a:ln>
        </p:spPr>
      </p:sp>
      <p:sp>
        <p:nvSpPr>
          <p:cNvPr id="1374399494" name="StepDot 9"/>
          <p:cNvSpPr/>
          <p:nvPr/>
        </p:nvSpPr>
        <p:spPr bwMode="auto">
          <a:xfrm>
            <a:off x="1353312" y="1920240"/>
            <a:ext cx="475488" cy="475488"/>
          </a:xfrm>
          <a:prstGeom prst="ellipse">
            <a:avLst/>
          </a:prstGeom>
          <a:solidFill>
            <a:srgbClr val="7C6FF0"/>
          </a:solidFill>
          <a:ln>
            <a:noFill/>
          </a:ln>
        </p:spPr>
        <p:txBody>
          <a:bodyPr wrap="square" rtlCol="0" anchor="ctr"/>
          <a:lstStyle/>
          <a:p>
            <a:pPr algn="ctr">
              <a:defRPr/>
            </a:pPr>
            <a:r>
              <a:rPr lang="en-US" sz="1250" b="1">
                <a:solidFill>
                  <a:srgbClr val="0B0F1F"/>
                </a:solidFill>
                <a:latin typeface="Aptos"/>
              </a:rPr>
              <a:t>1</a:t>
            </a:r>
            <a:endParaRPr lang="en-US" sz="1250"/>
          </a:p>
        </p:txBody>
      </p:sp>
      <p:sp>
        <p:nvSpPr>
          <p:cNvPr id="1864152088" name="TextBox 10"/>
          <p:cNvSpPr/>
          <p:nvPr/>
        </p:nvSpPr>
        <p:spPr bwMode="auto">
          <a:xfrm>
            <a:off x="859536" y="26517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400" b="1">
                <a:solidFill>
                  <a:srgbClr val="F4F5FB"/>
                </a:solidFill>
                <a:latin typeface="Aptos"/>
              </a:rPr>
              <a:t>Research</a:t>
            </a:r>
            <a:endParaRPr lang="en-US" sz="1400"/>
          </a:p>
        </p:txBody>
      </p:sp>
      <p:sp>
        <p:nvSpPr>
          <p:cNvPr id="859474999" name="TextBox 11"/>
          <p:cNvSpPr/>
          <p:nvPr/>
        </p:nvSpPr>
        <p:spPr bwMode="auto">
          <a:xfrm>
            <a:off x="822959" y="306324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Defined the sleep problem, target audience, and app scope.</a:t>
            </a:r>
            <a:endParaRPr lang="en-US" sz="1000"/>
          </a:p>
        </p:txBody>
      </p:sp>
      <p:sp>
        <p:nvSpPr>
          <p:cNvPr id="2083025978" name="Milestone 12"/>
          <p:cNvSpPr/>
          <p:nvPr/>
        </p:nvSpPr>
        <p:spPr bwMode="auto">
          <a:xfrm>
            <a:off x="2852928" y="2240280"/>
            <a:ext cx="1874519" cy="233172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FE3C4">
                <a:alpha val="40000"/>
              </a:srgbClr>
            </a:solidFill>
            <a:prstDash val="solid"/>
          </a:ln>
        </p:spPr>
      </p:sp>
      <p:sp>
        <p:nvSpPr>
          <p:cNvPr id="812259229" name="StepDot 13"/>
          <p:cNvSpPr/>
          <p:nvPr/>
        </p:nvSpPr>
        <p:spPr bwMode="auto">
          <a:xfrm>
            <a:off x="3547872" y="1920240"/>
            <a:ext cx="475488" cy="475488"/>
          </a:xfrm>
          <a:prstGeom prst="ellipse">
            <a:avLst/>
          </a:prstGeom>
          <a:solidFill>
            <a:srgbClr val="7FE3C4"/>
          </a:solidFill>
          <a:ln>
            <a:noFill/>
          </a:ln>
        </p:spPr>
        <p:txBody>
          <a:bodyPr wrap="square" rtlCol="0" anchor="ctr"/>
          <a:lstStyle/>
          <a:p>
            <a:pPr algn="ctr">
              <a:defRPr/>
            </a:pPr>
            <a:r>
              <a:rPr lang="en-US" sz="1250" b="1">
                <a:solidFill>
                  <a:srgbClr val="0B0F1F"/>
                </a:solidFill>
                <a:latin typeface="Aptos"/>
              </a:rPr>
              <a:t>2</a:t>
            </a:r>
            <a:endParaRPr lang="en-US" sz="1250"/>
          </a:p>
        </p:txBody>
      </p:sp>
      <p:sp>
        <p:nvSpPr>
          <p:cNvPr id="1218703031" name="TextBox 14"/>
          <p:cNvSpPr/>
          <p:nvPr/>
        </p:nvSpPr>
        <p:spPr bwMode="auto">
          <a:xfrm>
            <a:off x="3054096" y="26517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400" b="1">
                <a:solidFill>
                  <a:srgbClr val="F4F5FB"/>
                </a:solidFill>
                <a:latin typeface="Aptos"/>
              </a:rPr>
              <a:t>Design</a:t>
            </a:r>
            <a:endParaRPr lang="en-US" sz="1400"/>
          </a:p>
        </p:txBody>
      </p:sp>
      <p:sp>
        <p:nvSpPr>
          <p:cNvPr id="412362648" name="TextBox 15"/>
          <p:cNvSpPr/>
          <p:nvPr/>
        </p:nvSpPr>
        <p:spPr bwMode="auto">
          <a:xfrm>
            <a:off x="3017519" y="306324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Created the DreamMind screen system and visual identity.</a:t>
            </a:r>
            <a:endParaRPr lang="en-US" sz="1000"/>
          </a:p>
        </p:txBody>
      </p:sp>
      <p:sp>
        <p:nvSpPr>
          <p:cNvPr id="2051310816" name="Milestone 16"/>
          <p:cNvSpPr/>
          <p:nvPr/>
        </p:nvSpPr>
        <p:spPr bwMode="auto">
          <a:xfrm>
            <a:off x="5047488" y="2240280"/>
            <a:ext cx="1874519" cy="233172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A69DFF">
                <a:alpha val="40000"/>
              </a:srgbClr>
            </a:solidFill>
            <a:prstDash val="solid"/>
          </a:ln>
        </p:spPr>
      </p:sp>
      <p:sp>
        <p:nvSpPr>
          <p:cNvPr id="1230035999" name="StepDot 17"/>
          <p:cNvSpPr/>
          <p:nvPr/>
        </p:nvSpPr>
        <p:spPr bwMode="auto">
          <a:xfrm>
            <a:off x="5742431" y="1920240"/>
            <a:ext cx="475488" cy="475488"/>
          </a:xfrm>
          <a:prstGeom prst="ellipse">
            <a:avLst/>
          </a:prstGeom>
          <a:solidFill>
            <a:srgbClr val="A69DFF"/>
          </a:solidFill>
          <a:ln>
            <a:noFill/>
          </a:ln>
        </p:spPr>
        <p:txBody>
          <a:bodyPr wrap="square" rtlCol="0" anchor="ctr"/>
          <a:lstStyle/>
          <a:p>
            <a:pPr algn="ctr">
              <a:defRPr/>
            </a:pPr>
            <a:r>
              <a:rPr lang="en-US" sz="1250" b="1">
                <a:solidFill>
                  <a:srgbClr val="0B0F1F"/>
                </a:solidFill>
                <a:latin typeface="Aptos"/>
              </a:rPr>
              <a:t>3</a:t>
            </a:r>
            <a:endParaRPr lang="en-US" sz="1250"/>
          </a:p>
        </p:txBody>
      </p:sp>
      <p:sp>
        <p:nvSpPr>
          <p:cNvPr id="536281047" name="TextBox 18"/>
          <p:cNvSpPr/>
          <p:nvPr/>
        </p:nvSpPr>
        <p:spPr bwMode="auto">
          <a:xfrm>
            <a:off x="5248655" y="26517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400" b="1">
                <a:solidFill>
                  <a:srgbClr val="F4F5FB"/>
                </a:solidFill>
                <a:latin typeface="Aptos"/>
              </a:rPr>
              <a:t>Core Build</a:t>
            </a:r>
            <a:endParaRPr lang="en-US" sz="1400"/>
          </a:p>
        </p:txBody>
      </p:sp>
      <p:sp>
        <p:nvSpPr>
          <p:cNvPr id="1769650468" name="TextBox 19"/>
          <p:cNvSpPr/>
          <p:nvPr/>
        </p:nvSpPr>
        <p:spPr bwMode="auto">
          <a:xfrm>
            <a:off x="5212079" y="306324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Implemented authentication, onboarding, and dashboard structure.</a:t>
            </a:r>
            <a:endParaRPr lang="en-US" sz="1000"/>
          </a:p>
        </p:txBody>
      </p:sp>
      <p:sp>
        <p:nvSpPr>
          <p:cNvPr id="2013581330" name="Milestone 20"/>
          <p:cNvSpPr/>
          <p:nvPr/>
        </p:nvSpPr>
        <p:spPr bwMode="auto">
          <a:xfrm>
            <a:off x="7242048" y="2240280"/>
            <a:ext cx="1874519" cy="233172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C6FF0">
                <a:alpha val="40000"/>
              </a:srgbClr>
            </a:solidFill>
            <a:prstDash val="solid"/>
          </a:ln>
        </p:spPr>
      </p:sp>
      <p:sp>
        <p:nvSpPr>
          <p:cNvPr id="1927882064" name="StepDot 21"/>
          <p:cNvSpPr/>
          <p:nvPr/>
        </p:nvSpPr>
        <p:spPr bwMode="auto">
          <a:xfrm>
            <a:off x="7936992" y="1920240"/>
            <a:ext cx="475488" cy="475488"/>
          </a:xfrm>
          <a:prstGeom prst="ellipse">
            <a:avLst/>
          </a:prstGeom>
          <a:solidFill>
            <a:srgbClr val="7C6FF0"/>
          </a:solidFill>
          <a:ln>
            <a:noFill/>
          </a:ln>
        </p:spPr>
        <p:txBody>
          <a:bodyPr wrap="square" rtlCol="0" anchor="ctr"/>
          <a:lstStyle/>
          <a:p>
            <a:pPr algn="ctr">
              <a:defRPr/>
            </a:pPr>
            <a:r>
              <a:rPr lang="en-US" sz="1250" b="1">
                <a:solidFill>
                  <a:srgbClr val="0B0F1F"/>
                </a:solidFill>
                <a:latin typeface="Aptos"/>
              </a:rPr>
              <a:t>4</a:t>
            </a:r>
            <a:endParaRPr lang="en-US" sz="1250"/>
          </a:p>
        </p:txBody>
      </p:sp>
      <p:sp>
        <p:nvSpPr>
          <p:cNvPr id="1936305561" name="TextBox 22"/>
          <p:cNvSpPr/>
          <p:nvPr/>
        </p:nvSpPr>
        <p:spPr bwMode="auto">
          <a:xfrm>
            <a:off x="7443216" y="26517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400" b="1">
                <a:solidFill>
                  <a:srgbClr val="F4F5FB"/>
                </a:solidFill>
                <a:latin typeface="Aptos"/>
              </a:rPr>
              <a:t>Integration</a:t>
            </a:r>
            <a:endParaRPr lang="en-US" sz="1400"/>
          </a:p>
        </p:txBody>
      </p:sp>
      <p:sp>
        <p:nvSpPr>
          <p:cNvPr id="1218258580" name="TextBox 23"/>
          <p:cNvSpPr/>
          <p:nvPr/>
        </p:nvSpPr>
        <p:spPr bwMode="auto">
          <a:xfrm>
            <a:off x="7406640" y="306324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Added logging, alarm, analytics, coach, and profile flows.</a:t>
            </a:r>
            <a:endParaRPr lang="en-US" sz="1000"/>
          </a:p>
        </p:txBody>
      </p:sp>
      <p:sp>
        <p:nvSpPr>
          <p:cNvPr id="1212518340" name="Milestone 24"/>
          <p:cNvSpPr/>
          <p:nvPr/>
        </p:nvSpPr>
        <p:spPr bwMode="auto">
          <a:xfrm>
            <a:off x="9436608" y="2240280"/>
            <a:ext cx="1874519" cy="233172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7FE3C4">
                <a:alpha val="40000"/>
              </a:srgbClr>
            </a:solidFill>
            <a:prstDash val="solid"/>
          </a:ln>
        </p:spPr>
      </p:sp>
      <p:sp>
        <p:nvSpPr>
          <p:cNvPr id="1730597593" name="StepDot 25"/>
          <p:cNvSpPr/>
          <p:nvPr/>
        </p:nvSpPr>
        <p:spPr bwMode="auto">
          <a:xfrm>
            <a:off x="10131552" y="1920240"/>
            <a:ext cx="475488" cy="475488"/>
          </a:xfrm>
          <a:prstGeom prst="ellipse">
            <a:avLst/>
          </a:prstGeom>
          <a:solidFill>
            <a:srgbClr val="7FE3C4"/>
          </a:solidFill>
          <a:ln>
            <a:noFill/>
          </a:ln>
        </p:spPr>
        <p:txBody>
          <a:bodyPr wrap="square" rtlCol="0" anchor="ctr"/>
          <a:lstStyle/>
          <a:p>
            <a:pPr algn="ctr">
              <a:defRPr/>
            </a:pPr>
            <a:r>
              <a:rPr lang="en-US" sz="1250" b="1">
                <a:solidFill>
                  <a:srgbClr val="0B0F1F"/>
                </a:solidFill>
                <a:latin typeface="Aptos"/>
              </a:rPr>
              <a:t>5</a:t>
            </a:r>
            <a:endParaRPr lang="en-US" sz="1250"/>
          </a:p>
        </p:txBody>
      </p:sp>
      <p:sp>
        <p:nvSpPr>
          <p:cNvPr id="498935550" name="TextBox 26"/>
          <p:cNvSpPr/>
          <p:nvPr/>
        </p:nvSpPr>
        <p:spPr bwMode="auto">
          <a:xfrm>
            <a:off x="9637776" y="26517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400" b="1">
                <a:solidFill>
                  <a:srgbClr val="F4F5FB"/>
                </a:solidFill>
                <a:latin typeface="Aptos"/>
              </a:rPr>
              <a:t>Polish</a:t>
            </a:r>
            <a:endParaRPr lang="en-US" sz="1400"/>
          </a:p>
        </p:txBody>
      </p:sp>
      <p:sp>
        <p:nvSpPr>
          <p:cNvPr id="1735710539" name="TextBox 27"/>
          <p:cNvSpPr/>
          <p:nvPr/>
        </p:nvSpPr>
        <p:spPr bwMode="auto">
          <a:xfrm>
            <a:off x="9601200" y="306324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000">
                <a:solidFill>
                  <a:srgbClr val="9AA0C0"/>
                </a:solidFill>
                <a:latin typeface="Aptos"/>
              </a:rPr>
              <a:t>Refined UI, prepared demo order, and finalized presentation assets.</a:t>
            </a:r>
            <a:endParaRPr lang="en-US" sz="1000"/>
          </a:p>
        </p:txBody>
      </p:sp>
      <p:sp>
        <p:nvSpPr>
          <p:cNvPr id="10037997" name="TextBox 28"/>
          <p:cNvSpPr/>
          <p:nvPr/>
        </p:nvSpPr>
        <p:spPr bwMode="auto">
          <a:xfrm>
            <a:off x="868680" y="5120640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100" b="1">
                <a:solidFill>
                  <a:srgbClr val="F4F5FB"/>
                </a:solidFill>
                <a:latin typeface="Aptos"/>
              </a:rPr>
              <a:t>This structure helps explain the project as a real development process, not only a collection of screens.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Future Wor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288781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1247241408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1595680887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478532580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725910686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Future Work and Scalability</a:t>
            </a:r>
            <a:endParaRPr lang="en-US" sz="2800"/>
          </a:p>
        </p:txBody>
      </p:sp>
      <p:sp>
        <p:nvSpPr>
          <p:cNvPr id="806394733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>
                <a:solidFill>
                  <a:srgbClr val="9AA0C0"/>
                </a:solidFill>
                <a:latin typeface="Aptos"/>
              </a:rPr>
              <a:t>The current architecture leaves room for stronger production behaviour, deeper personalization, and broader device integration.</a:t>
            </a:r>
            <a:endParaRPr lang="en-US" sz="1350"/>
          </a:p>
        </p:txBody>
      </p:sp>
      <p:sp>
        <p:nvSpPr>
          <p:cNvPr id="1805691672" name="InfoCard 8"/>
          <p:cNvSpPr/>
          <p:nvPr/>
        </p:nvSpPr>
        <p:spPr bwMode="auto">
          <a:xfrm>
            <a:off x="841248" y="1828800"/>
            <a:ext cx="2743200" cy="12801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089691424" name="AccentBar 9"/>
          <p:cNvSpPr/>
          <p:nvPr/>
        </p:nvSpPr>
        <p:spPr bwMode="auto">
          <a:xfrm>
            <a:off x="1005840" y="1993392"/>
            <a:ext cx="109728" cy="950976"/>
          </a:xfrm>
          <a:prstGeom prst="roundRect">
            <a:avLst>
              <a:gd name="adj" fmla="val 16667"/>
            </a:avLst>
          </a:prstGeom>
          <a:solidFill>
            <a:srgbClr val="7C6FF0">
              <a:alpha val="100000"/>
            </a:srgbClr>
          </a:solidFill>
          <a:ln>
            <a:noFill/>
          </a:ln>
        </p:spPr>
      </p:sp>
      <p:sp>
        <p:nvSpPr>
          <p:cNvPr id="1213421862" name="TextBox 10"/>
          <p:cNvSpPr/>
          <p:nvPr/>
        </p:nvSpPr>
        <p:spPr bwMode="auto">
          <a:xfrm>
            <a:off x="1225296" y="2057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Backend growth</a:t>
            </a:r>
            <a:endParaRPr lang="en-US" sz="1350"/>
          </a:p>
        </p:txBody>
      </p:sp>
      <p:sp>
        <p:nvSpPr>
          <p:cNvPr id="1735122205" name="TextBox 11"/>
          <p:cNvSpPr/>
          <p:nvPr/>
        </p:nvSpPr>
        <p:spPr bwMode="auto">
          <a:xfrm>
            <a:off x="1225296" y="2395728"/>
            <a:ext cx="2176272" cy="54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Expand remote sync, stronger account flows, and richer analytics endpoints.</a:t>
            </a:r>
            <a:endParaRPr lang="en-US" sz="1100"/>
          </a:p>
        </p:txBody>
      </p:sp>
      <p:sp>
        <p:nvSpPr>
          <p:cNvPr id="1585965305" name="InfoCard 12"/>
          <p:cNvSpPr/>
          <p:nvPr/>
        </p:nvSpPr>
        <p:spPr bwMode="auto">
          <a:xfrm>
            <a:off x="3794760" y="1828800"/>
            <a:ext cx="2743200" cy="12801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878548876" name="AccentBar 13"/>
          <p:cNvSpPr/>
          <p:nvPr/>
        </p:nvSpPr>
        <p:spPr bwMode="auto">
          <a:xfrm>
            <a:off x="3959352" y="1993392"/>
            <a:ext cx="109728" cy="950976"/>
          </a:xfrm>
          <a:prstGeom prst="roundRect">
            <a:avLst>
              <a:gd name="adj" fmla="val 16667"/>
            </a:avLst>
          </a:prstGeom>
          <a:solidFill>
            <a:srgbClr val="7FE3C4">
              <a:alpha val="100000"/>
            </a:srgbClr>
          </a:solidFill>
          <a:ln>
            <a:noFill/>
          </a:ln>
        </p:spPr>
      </p:sp>
      <p:sp>
        <p:nvSpPr>
          <p:cNvPr id="893752844" name="TextBox 14"/>
          <p:cNvSpPr/>
          <p:nvPr/>
        </p:nvSpPr>
        <p:spPr bwMode="auto">
          <a:xfrm>
            <a:off x="4178808" y="2057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Offline support</a:t>
            </a:r>
            <a:endParaRPr lang="en-US" sz="1350"/>
          </a:p>
        </p:txBody>
      </p:sp>
      <p:sp>
        <p:nvSpPr>
          <p:cNvPr id="1499847690" name="TextBox 15"/>
          <p:cNvSpPr/>
          <p:nvPr/>
        </p:nvSpPr>
        <p:spPr bwMode="auto">
          <a:xfrm>
            <a:off x="4178808" y="2395728"/>
            <a:ext cx="2176272" cy="54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Add local persistence for history, caching, and better resilience without network.</a:t>
            </a:r>
            <a:endParaRPr lang="en-US" sz="1100"/>
          </a:p>
        </p:txBody>
      </p:sp>
      <p:sp>
        <p:nvSpPr>
          <p:cNvPr id="1245473732" name="InfoCard 16"/>
          <p:cNvSpPr/>
          <p:nvPr/>
        </p:nvSpPr>
        <p:spPr bwMode="auto">
          <a:xfrm>
            <a:off x="6748272" y="1828800"/>
            <a:ext cx="2743200" cy="12801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228320381" name="AccentBar 17"/>
          <p:cNvSpPr/>
          <p:nvPr/>
        </p:nvSpPr>
        <p:spPr bwMode="auto">
          <a:xfrm>
            <a:off x="6912864" y="1993392"/>
            <a:ext cx="109728" cy="950976"/>
          </a:xfrm>
          <a:prstGeom prst="roundRect">
            <a:avLst>
              <a:gd name="adj" fmla="val 16667"/>
            </a:avLst>
          </a:prstGeom>
          <a:solidFill>
            <a:srgbClr val="A69DFF">
              <a:alpha val="100000"/>
            </a:srgbClr>
          </a:solidFill>
          <a:ln>
            <a:noFill/>
          </a:ln>
        </p:spPr>
      </p:sp>
      <p:sp>
        <p:nvSpPr>
          <p:cNvPr id="859099057" name="TextBox 18"/>
          <p:cNvSpPr/>
          <p:nvPr/>
        </p:nvSpPr>
        <p:spPr bwMode="auto">
          <a:xfrm>
            <a:off x="7132320" y="2057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Smarter guidance</a:t>
            </a:r>
            <a:endParaRPr lang="en-US" sz="1350"/>
          </a:p>
        </p:txBody>
      </p:sp>
      <p:sp>
        <p:nvSpPr>
          <p:cNvPr id="1352293918" name="TextBox 19"/>
          <p:cNvSpPr/>
          <p:nvPr/>
        </p:nvSpPr>
        <p:spPr bwMode="auto">
          <a:xfrm>
            <a:off x="7132320" y="2395728"/>
            <a:ext cx="2176272" cy="54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Improve coaching recommendations with more personalized sleep patterns.</a:t>
            </a:r>
            <a:endParaRPr lang="en-US" sz="1100"/>
          </a:p>
        </p:txBody>
      </p:sp>
      <p:sp>
        <p:nvSpPr>
          <p:cNvPr id="1817371032" name="InfoCard 20"/>
          <p:cNvSpPr/>
          <p:nvPr/>
        </p:nvSpPr>
        <p:spPr bwMode="auto">
          <a:xfrm>
            <a:off x="9701784" y="1828800"/>
            <a:ext cx="1645920" cy="128016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5477896" name="AccentBar 21"/>
          <p:cNvSpPr/>
          <p:nvPr/>
        </p:nvSpPr>
        <p:spPr bwMode="auto">
          <a:xfrm>
            <a:off x="9866375" y="1993392"/>
            <a:ext cx="109728" cy="950976"/>
          </a:xfrm>
          <a:prstGeom prst="roundRect">
            <a:avLst>
              <a:gd name="adj" fmla="val 16667"/>
            </a:avLst>
          </a:prstGeom>
          <a:solidFill>
            <a:srgbClr val="7C6FF0">
              <a:alpha val="100000"/>
            </a:srgbClr>
          </a:solidFill>
          <a:ln>
            <a:noFill/>
          </a:ln>
        </p:spPr>
      </p:sp>
      <p:sp>
        <p:nvSpPr>
          <p:cNvPr id="1582300868" name="TextBox 22"/>
          <p:cNvSpPr/>
          <p:nvPr/>
        </p:nvSpPr>
        <p:spPr bwMode="auto">
          <a:xfrm>
            <a:off x="10085832" y="20574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Testing</a:t>
            </a:r>
            <a:endParaRPr lang="en-US" sz="1350"/>
          </a:p>
        </p:txBody>
      </p:sp>
      <p:sp>
        <p:nvSpPr>
          <p:cNvPr id="1603820064" name="TextBox 23"/>
          <p:cNvSpPr/>
          <p:nvPr/>
        </p:nvSpPr>
        <p:spPr bwMode="auto">
          <a:xfrm>
            <a:off x="10085832" y="2395728"/>
            <a:ext cx="1078992" cy="54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Increase automated coverage and validation depth.</a:t>
            </a:r>
            <a:endParaRPr lang="en-US" sz="1100"/>
          </a:p>
        </p:txBody>
      </p:sp>
      <p:sp>
        <p:nvSpPr>
          <p:cNvPr id="1341914604" name="InfoCard 24"/>
          <p:cNvSpPr/>
          <p:nvPr/>
        </p:nvSpPr>
        <p:spPr bwMode="auto">
          <a:xfrm>
            <a:off x="1508759" y="3794760"/>
            <a:ext cx="3657600" cy="1325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381871280" name="AccentBar 25"/>
          <p:cNvSpPr/>
          <p:nvPr/>
        </p:nvSpPr>
        <p:spPr bwMode="auto">
          <a:xfrm>
            <a:off x="1673351" y="3959352"/>
            <a:ext cx="109728" cy="996695"/>
          </a:xfrm>
          <a:prstGeom prst="roundRect">
            <a:avLst>
              <a:gd name="adj" fmla="val 16667"/>
            </a:avLst>
          </a:prstGeom>
          <a:solidFill>
            <a:srgbClr val="7FE3C4">
              <a:alpha val="100000"/>
            </a:srgbClr>
          </a:solidFill>
          <a:ln>
            <a:noFill/>
          </a:ln>
        </p:spPr>
      </p:sp>
      <p:sp>
        <p:nvSpPr>
          <p:cNvPr id="343449091" name="TextBox 26"/>
          <p:cNvSpPr/>
          <p:nvPr/>
        </p:nvSpPr>
        <p:spPr bwMode="auto">
          <a:xfrm>
            <a:off x="1892807" y="40233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Scalability direction</a:t>
            </a:r>
            <a:endParaRPr lang="en-US" sz="1350"/>
          </a:p>
        </p:txBody>
      </p:sp>
      <p:sp>
        <p:nvSpPr>
          <p:cNvPr id="824546992" name="TextBox 27"/>
          <p:cNvSpPr/>
          <p:nvPr/>
        </p:nvSpPr>
        <p:spPr bwMode="auto">
          <a:xfrm>
            <a:off x="1892807" y="4361688"/>
            <a:ext cx="3090672" cy="59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The repository-based structure makes it easier to add new features without tightly coupling screens and data sources.</a:t>
            </a:r>
            <a:endParaRPr lang="en-US" sz="1100"/>
          </a:p>
        </p:txBody>
      </p:sp>
      <p:sp>
        <p:nvSpPr>
          <p:cNvPr id="1040589584" name="InfoCard 28"/>
          <p:cNvSpPr/>
          <p:nvPr/>
        </p:nvSpPr>
        <p:spPr bwMode="auto">
          <a:xfrm>
            <a:off x="5532120" y="3794760"/>
            <a:ext cx="4206240" cy="13258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450879206" name="AccentBar 29"/>
          <p:cNvSpPr/>
          <p:nvPr/>
        </p:nvSpPr>
        <p:spPr bwMode="auto">
          <a:xfrm>
            <a:off x="5696712" y="3959352"/>
            <a:ext cx="109728" cy="996695"/>
          </a:xfrm>
          <a:prstGeom prst="roundRect">
            <a:avLst>
              <a:gd name="adj" fmla="val 16667"/>
            </a:avLst>
          </a:prstGeom>
          <a:solidFill>
            <a:srgbClr val="A69DFF">
              <a:alpha val="100000"/>
            </a:srgbClr>
          </a:solidFill>
          <a:ln>
            <a:noFill/>
          </a:ln>
        </p:spPr>
      </p:sp>
      <p:sp>
        <p:nvSpPr>
          <p:cNvPr id="2075739606" name="TextBox 30"/>
          <p:cNvSpPr/>
          <p:nvPr/>
        </p:nvSpPr>
        <p:spPr bwMode="auto">
          <a:xfrm>
            <a:off x="5916168" y="4023360"/>
            <a:ext cx="361187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Possible extensions</a:t>
            </a:r>
            <a:endParaRPr lang="en-US" sz="1350"/>
          </a:p>
        </p:txBody>
      </p:sp>
      <p:sp>
        <p:nvSpPr>
          <p:cNvPr id="1099820185" name="TextBox 31"/>
          <p:cNvSpPr/>
          <p:nvPr/>
        </p:nvSpPr>
        <p:spPr bwMode="auto">
          <a:xfrm>
            <a:off x="5916168" y="4361688"/>
            <a:ext cx="3639311" cy="59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Wearable integration, sleep recommendations from device sensors, and richer session comparison views.</a:t>
            </a:r>
            <a:endParaRPr lang="en-US" sz="1100"/>
          </a:p>
        </p:txBody>
      </p:sp>
      <p:sp>
        <p:nvSpPr>
          <p:cNvPr id="371932553" name="TextBox 32"/>
          <p:cNvSpPr/>
          <p:nvPr/>
        </p:nvSpPr>
        <p:spPr bwMode="auto">
          <a:xfrm>
            <a:off x="960120" y="5504687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en-US" sz="1100" b="1">
                <a:solidFill>
                  <a:srgbClr val="F4F5FB"/>
                </a:solidFill>
                <a:latin typeface="Aptos"/>
              </a:rPr>
              <a:t>This slide directly answers the assignment requirement about planned enhancements and future scalability.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Conclusion and Dem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389690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1538517231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1718875586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831673396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889895460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Conclusion and Live Demo Plan</a:t>
            </a:r>
            <a:endParaRPr lang="en-US" sz="2800"/>
          </a:p>
        </p:txBody>
      </p:sp>
      <p:sp>
        <p:nvSpPr>
          <p:cNvPr id="918223685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endParaRPr lang="en-US" sz="1350"/>
          </a:p>
        </p:txBody>
      </p:sp>
      <p:sp>
        <p:nvSpPr>
          <p:cNvPr id="1850619107" name="InfoCard 8"/>
          <p:cNvSpPr/>
          <p:nvPr/>
        </p:nvSpPr>
        <p:spPr bwMode="auto">
          <a:xfrm>
            <a:off x="841248" y="1828800"/>
            <a:ext cx="3017519" cy="10972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2020856315" name="AccentBar 9"/>
          <p:cNvSpPr/>
          <p:nvPr/>
        </p:nvSpPr>
        <p:spPr bwMode="auto">
          <a:xfrm>
            <a:off x="1005840" y="1993392"/>
            <a:ext cx="109728" cy="768096"/>
          </a:xfrm>
          <a:prstGeom prst="roundRect">
            <a:avLst>
              <a:gd name="adj" fmla="val 16667"/>
            </a:avLst>
          </a:prstGeom>
          <a:solidFill>
            <a:srgbClr val="7C6FF0">
              <a:alpha val="100000"/>
            </a:srgbClr>
          </a:solidFill>
          <a:ln>
            <a:noFill/>
          </a:ln>
        </p:spPr>
      </p:sp>
      <p:sp>
        <p:nvSpPr>
          <p:cNvPr id="671631029" name="TextBox 10"/>
          <p:cNvSpPr/>
          <p:nvPr/>
        </p:nvSpPr>
        <p:spPr bwMode="auto">
          <a:xfrm>
            <a:off x="1225296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Key message</a:t>
            </a:r>
            <a:endParaRPr lang="en-US" sz="1350"/>
          </a:p>
        </p:txBody>
      </p:sp>
      <p:sp>
        <p:nvSpPr>
          <p:cNvPr id="356089186" name="TextBox 11"/>
          <p:cNvSpPr/>
          <p:nvPr/>
        </p:nvSpPr>
        <p:spPr bwMode="auto">
          <a:xfrm>
            <a:off x="1225296" y="2395728"/>
            <a:ext cx="2450591" cy="3657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DreamMind is more than a concept. It combines product thinking, design quality, and working mobile app structure.</a:t>
            </a:r>
            <a:endParaRPr lang="en-US" sz="1100"/>
          </a:p>
        </p:txBody>
      </p:sp>
      <p:sp>
        <p:nvSpPr>
          <p:cNvPr id="1995987458" name="InfoCard 12"/>
          <p:cNvSpPr/>
          <p:nvPr/>
        </p:nvSpPr>
        <p:spPr bwMode="auto">
          <a:xfrm>
            <a:off x="841248" y="3154680"/>
            <a:ext cx="3017519" cy="10972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989293230" name="AccentBar 13"/>
          <p:cNvSpPr/>
          <p:nvPr/>
        </p:nvSpPr>
        <p:spPr bwMode="auto">
          <a:xfrm>
            <a:off x="1005840" y="3319272"/>
            <a:ext cx="109728" cy="768096"/>
          </a:xfrm>
          <a:prstGeom prst="roundRect">
            <a:avLst>
              <a:gd name="adj" fmla="val 16667"/>
            </a:avLst>
          </a:prstGeom>
          <a:solidFill>
            <a:srgbClr val="7FE3C4">
              <a:alpha val="100000"/>
            </a:srgbClr>
          </a:solidFill>
          <a:ln>
            <a:noFill/>
          </a:ln>
        </p:spPr>
      </p:sp>
      <p:sp>
        <p:nvSpPr>
          <p:cNvPr id="815706946" name="TextBox 14"/>
          <p:cNvSpPr/>
          <p:nvPr/>
        </p:nvSpPr>
        <p:spPr bwMode="auto">
          <a:xfrm>
            <a:off x="1225296" y="33832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Demo order</a:t>
            </a:r>
            <a:endParaRPr lang="en-US" sz="1350"/>
          </a:p>
        </p:txBody>
      </p:sp>
      <p:sp>
        <p:nvSpPr>
          <p:cNvPr id="1601868995" name="TextBox 15"/>
          <p:cNvSpPr/>
          <p:nvPr/>
        </p:nvSpPr>
        <p:spPr bwMode="auto">
          <a:xfrm>
            <a:off x="1225296" y="3721608"/>
            <a:ext cx="2450591" cy="3657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Sign In -&gt; Home -&gt; Sleep Log -&gt; Smart Alarm -&gt; Analytics -&gt; Coach -&gt; Profile</a:t>
            </a:r>
            <a:endParaRPr lang="en-US" sz="1100"/>
          </a:p>
        </p:txBody>
      </p:sp>
      <p:sp>
        <p:nvSpPr>
          <p:cNvPr id="196108611" name="InfoCard 16"/>
          <p:cNvSpPr/>
          <p:nvPr/>
        </p:nvSpPr>
        <p:spPr bwMode="auto">
          <a:xfrm>
            <a:off x="841248" y="4480560"/>
            <a:ext cx="3017519" cy="10972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5000"/>
              </a:srgbClr>
            </a:solidFill>
            <a:prstDash val="solid"/>
          </a:ln>
        </p:spPr>
      </p:sp>
      <p:sp>
        <p:nvSpPr>
          <p:cNvPr id="1009665999" name="AccentBar 17"/>
          <p:cNvSpPr/>
          <p:nvPr/>
        </p:nvSpPr>
        <p:spPr bwMode="auto">
          <a:xfrm>
            <a:off x="1005840" y="4645152"/>
            <a:ext cx="109728" cy="768096"/>
          </a:xfrm>
          <a:prstGeom prst="roundRect">
            <a:avLst>
              <a:gd name="adj" fmla="val 16667"/>
            </a:avLst>
          </a:prstGeom>
          <a:solidFill>
            <a:srgbClr val="A69DFF">
              <a:alpha val="100000"/>
            </a:srgbClr>
          </a:solidFill>
          <a:ln>
            <a:noFill/>
          </a:ln>
        </p:spPr>
      </p:sp>
      <p:sp>
        <p:nvSpPr>
          <p:cNvPr id="1342058733" name="TextBox 18"/>
          <p:cNvSpPr/>
          <p:nvPr/>
        </p:nvSpPr>
        <p:spPr bwMode="auto">
          <a:xfrm>
            <a:off x="1225296" y="47091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 b="1">
                <a:solidFill>
                  <a:srgbClr val="F4F5FB"/>
                </a:solidFill>
                <a:latin typeface="Aptos"/>
              </a:rPr>
              <a:t>Closing note</a:t>
            </a:r>
            <a:endParaRPr lang="en-US" sz="1350"/>
          </a:p>
        </p:txBody>
      </p:sp>
      <p:sp>
        <p:nvSpPr>
          <p:cNvPr id="466872306" name="TextBox 19"/>
          <p:cNvSpPr/>
          <p:nvPr/>
        </p:nvSpPr>
        <p:spPr bwMode="auto">
          <a:xfrm>
            <a:off x="1225296" y="5047488"/>
            <a:ext cx="2450591" cy="3657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100">
                <a:solidFill>
                  <a:srgbClr val="9AA0C0"/>
                </a:solidFill>
                <a:latin typeface="Aptos"/>
              </a:rPr>
              <a:t>The project demonstrates how one app can connect guidance, data, and calm user experience around sleep wellness.</a:t>
            </a:r>
            <a:endParaRPr lang="en-US" sz="1100"/>
          </a:p>
        </p:txBody>
      </p:sp>
      <p:sp>
        <p:nvSpPr>
          <p:cNvPr id="1561160371" name="ScreenshotCard 20"/>
          <p:cNvSpPr/>
          <p:nvPr/>
        </p:nvSpPr>
        <p:spPr bwMode="auto">
          <a:xfrm>
            <a:off x="4297680" y="1783080"/>
            <a:ext cx="1828800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563828789" name="AccentBar 21"/>
          <p:cNvSpPr/>
          <p:nvPr/>
        </p:nvSpPr>
        <p:spPr bwMode="auto">
          <a:xfrm>
            <a:off x="4462272" y="1947671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599379188" name="TextBox 22"/>
          <p:cNvSpPr/>
          <p:nvPr/>
        </p:nvSpPr>
        <p:spPr bwMode="auto">
          <a:xfrm>
            <a:off x="4681728" y="1947671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Dashboard</a:t>
            </a:r>
            <a:endParaRPr lang="en-US" sz="1300"/>
          </a:p>
        </p:txBody>
      </p:sp>
      <p:pic>
        <p:nvPicPr>
          <p:cNvPr id="1399917404" name="Dashboard 2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81158" y="2286000"/>
            <a:ext cx="1261844" cy="3255263"/>
          </a:xfrm>
          <a:prstGeom prst="rect">
            <a:avLst/>
          </a:prstGeom>
          <a:ln>
            <a:noFill/>
          </a:ln>
        </p:spPr>
      </p:pic>
      <p:sp>
        <p:nvSpPr>
          <p:cNvPr id="719415345" name="ScreenshotCard 24"/>
          <p:cNvSpPr/>
          <p:nvPr/>
        </p:nvSpPr>
        <p:spPr bwMode="auto">
          <a:xfrm>
            <a:off x="6355080" y="1783080"/>
            <a:ext cx="1828800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974153131" name="AccentBar 25"/>
          <p:cNvSpPr/>
          <p:nvPr/>
        </p:nvSpPr>
        <p:spPr bwMode="auto">
          <a:xfrm>
            <a:off x="6519672" y="1947671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1890578641" name="TextBox 26"/>
          <p:cNvSpPr/>
          <p:nvPr/>
        </p:nvSpPr>
        <p:spPr bwMode="auto">
          <a:xfrm>
            <a:off x="6739128" y="1947671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Alarm</a:t>
            </a:r>
            <a:endParaRPr lang="en-US" sz="1300"/>
          </a:p>
        </p:txBody>
      </p:sp>
      <p:pic>
        <p:nvPicPr>
          <p:cNvPr id="1488215553" name="Alarm 2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743253" y="2286000"/>
            <a:ext cx="1052453" cy="3255263"/>
          </a:xfrm>
          <a:prstGeom prst="rect">
            <a:avLst/>
          </a:prstGeom>
          <a:ln>
            <a:noFill/>
          </a:ln>
        </p:spPr>
      </p:pic>
      <p:sp>
        <p:nvSpPr>
          <p:cNvPr id="1519494240" name="ScreenshotCard 28"/>
          <p:cNvSpPr/>
          <p:nvPr/>
        </p:nvSpPr>
        <p:spPr bwMode="auto">
          <a:xfrm>
            <a:off x="8412480" y="1783080"/>
            <a:ext cx="1828800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50654722" name="AccentBar 29"/>
          <p:cNvSpPr/>
          <p:nvPr/>
        </p:nvSpPr>
        <p:spPr bwMode="auto">
          <a:xfrm>
            <a:off x="8577072" y="1947671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956809747" name="TextBox 30"/>
          <p:cNvSpPr/>
          <p:nvPr/>
        </p:nvSpPr>
        <p:spPr bwMode="auto">
          <a:xfrm>
            <a:off x="8796528" y="1947671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Analytics</a:t>
            </a:r>
            <a:endParaRPr lang="en-US" sz="1300"/>
          </a:p>
        </p:txBody>
      </p:sp>
      <p:pic>
        <p:nvPicPr>
          <p:cNvPr id="629595424" name="Analytics 3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752422" y="2286000"/>
            <a:ext cx="1148916" cy="3255263"/>
          </a:xfrm>
          <a:prstGeom prst="rect">
            <a:avLst/>
          </a:prstGeom>
          <a:ln>
            <a:noFill/>
          </a:ln>
        </p:spPr>
      </p:pic>
      <p:sp>
        <p:nvSpPr>
          <p:cNvPr id="610888640" name="ScreenshotCard 32"/>
          <p:cNvSpPr/>
          <p:nvPr/>
        </p:nvSpPr>
        <p:spPr bwMode="auto">
          <a:xfrm>
            <a:off x="10469880" y="1783080"/>
            <a:ext cx="1097280" cy="3977639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886278959" name="AccentBar 33"/>
          <p:cNvSpPr/>
          <p:nvPr/>
        </p:nvSpPr>
        <p:spPr bwMode="auto">
          <a:xfrm>
            <a:off x="10634472" y="1947671"/>
            <a:ext cx="109728" cy="36484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882757869" name="TextBox 34"/>
          <p:cNvSpPr/>
          <p:nvPr/>
        </p:nvSpPr>
        <p:spPr bwMode="auto">
          <a:xfrm>
            <a:off x="10853928" y="1947671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Coach</a:t>
            </a:r>
            <a:endParaRPr lang="en-US" sz="1300"/>
          </a:p>
        </p:txBody>
      </p:sp>
      <p:pic>
        <p:nvPicPr>
          <p:cNvPr id="1547303944" name="Coach 35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652760" y="2955284"/>
            <a:ext cx="731520" cy="191669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creens Galler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257917" name="Bg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B0F1F"/>
          </a:solidFill>
          <a:ln>
            <a:noFill/>
          </a:ln>
        </p:spPr>
      </p:sp>
      <p:sp>
        <p:nvSpPr>
          <p:cNvPr id="1708302401" name="GlowOne 3"/>
          <p:cNvSpPr/>
          <p:nvPr/>
        </p:nvSpPr>
        <p:spPr bwMode="auto">
          <a:xfrm>
            <a:off x="8046720" y="-548640"/>
            <a:ext cx="3931920" cy="2743200"/>
          </a:xfrm>
          <a:prstGeom prst="ellipse">
            <a:avLst/>
          </a:prstGeom>
          <a:solidFill>
            <a:srgbClr val="7C6FF0">
              <a:alpha val="12000"/>
            </a:srgbClr>
          </a:solidFill>
          <a:ln>
            <a:noFill/>
          </a:ln>
        </p:spPr>
      </p:sp>
      <p:sp>
        <p:nvSpPr>
          <p:cNvPr id="1207331470" name="GlowTwo 4"/>
          <p:cNvSpPr/>
          <p:nvPr/>
        </p:nvSpPr>
        <p:spPr bwMode="auto">
          <a:xfrm>
            <a:off x="-822960" y="3657600"/>
            <a:ext cx="4206240" cy="2743200"/>
          </a:xfrm>
          <a:prstGeom prst="ellipse">
            <a:avLst/>
          </a:prstGeom>
          <a:solidFill>
            <a:srgbClr val="7FE3C4">
              <a:alpha val="7000"/>
            </a:srgbClr>
          </a:solidFill>
          <a:ln>
            <a:noFill/>
          </a:ln>
        </p:spPr>
      </p:sp>
      <p:sp>
        <p:nvSpPr>
          <p:cNvPr id="1581261944" name="GlowThree 5"/>
          <p:cNvSpPr/>
          <p:nvPr/>
        </p:nvSpPr>
        <p:spPr bwMode="auto">
          <a:xfrm>
            <a:off x="5303520" y="5120640"/>
            <a:ext cx="2926080" cy="1463040"/>
          </a:xfrm>
          <a:prstGeom prst="ellipse">
            <a:avLst/>
          </a:prstGeom>
          <a:solidFill>
            <a:srgbClr val="A69DFF">
              <a:alpha val="7000"/>
            </a:srgbClr>
          </a:solidFill>
          <a:ln>
            <a:noFill/>
          </a:ln>
        </p:spPr>
      </p:sp>
      <p:sp>
        <p:nvSpPr>
          <p:cNvPr id="2032256779" name="TextBox 6"/>
          <p:cNvSpPr/>
          <p:nvPr/>
        </p:nvSpPr>
        <p:spPr bwMode="auto">
          <a:xfrm>
            <a:off x="731520" y="54864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2800" b="1">
                <a:solidFill>
                  <a:srgbClr val="F4F5FB"/>
                </a:solidFill>
                <a:latin typeface="Aptos Display"/>
              </a:rPr>
              <a:t>Screens Gallery</a:t>
            </a:r>
            <a:endParaRPr lang="en-US" sz="2800"/>
          </a:p>
        </p:txBody>
      </p:sp>
      <p:sp>
        <p:nvSpPr>
          <p:cNvPr id="2090118002" name="TextBox 7"/>
          <p:cNvSpPr/>
          <p:nvPr/>
        </p:nvSpPr>
        <p:spPr bwMode="auto">
          <a:xfrm>
            <a:off x="749808" y="1143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50">
                <a:solidFill>
                  <a:srgbClr val="9AA0C0"/>
                </a:solidFill>
                <a:latin typeface="Aptos"/>
              </a:rPr>
              <a:t>Real uploaded DreamMind screenshots used as backup visual proof during Q&amp;A or when examiners ask to see more screens quickly.</a:t>
            </a:r>
            <a:endParaRPr lang="en-US" sz="1350"/>
          </a:p>
        </p:txBody>
      </p:sp>
      <p:sp>
        <p:nvSpPr>
          <p:cNvPr id="367664778" name="ScreenshotCard 8"/>
          <p:cNvSpPr/>
          <p:nvPr/>
        </p:nvSpPr>
        <p:spPr bwMode="auto">
          <a:xfrm>
            <a:off x="804672" y="1737360"/>
            <a:ext cx="1508759" cy="20116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147634547" name="AccentBar 9"/>
          <p:cNvSpPr/>
          <p:nvPr/>
        </p:nvSpPr>
        <p:spPr bwMode="auto">
          <a:xfrm>
            <a:off x="969264" y="1901952"/>
            <a:ext cx="109728" cy="168249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1660246939" name="TextBox 10"/>
          <p:cNvSpPr/>
          <p:nvPr/>
        </p:nvSpPr>
        <p:spPr bwMode="auto">
          <a:xfrm>
            <a:off x="1188720" y="1901952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Welcome</a:t>
            </a:r>
            <a:endParaRPr lang="en-US" sz="1300"/>
          </a:p>
        </p:txBody>
      </p:sp>
      <p:pic>
        <p:nvPicPr>
          <p:cNvPr id="101450263" name="Welcom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19623" y="2240280"/>
            <a:ext cx="678858" cy="1289304"/>
          </a:xfrm>
          <a:prstGeom prst="rect">
            <a:avLst/>
          </a:prstGeom>
          <a:ln>
            <a:noFill/>
          </a:ln>
        </p:spPr>
      </p:pic>
      <p:sp>
        <p:nvSpPr>
          <p:cNvPr id="989277664" name="ScreenshotCard 12"/>
          <p:cNvSpPr/>
          <p:nvPr/>
        </p:nvSpPr>
        <p:spPr bwMode="auto">
          <a:xfrm>
            <a:off x="2560320" y="1737360"/>
            <a:ext cx="1508759" cy="20116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509619777" name="AccentBar 13"/>
          <p:cNvSpPr/>
          <p:nvPr/>
        </p:nvSpPr>
        <p:spPr bwMode="auto">
          <a:xfrm>
            <a:off x="2724911" y="1901952"/>
            <a:ext cx="109728" cy="168249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894809786" name="TextBox 14"/>
          <p:cNvSpPr/>
          <p:nvPr/>
        </p:nvSpPr>
        <p:spPr bwMode="auto">
          <a:xfrm>
            <a:off x="2944368" y="1901952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Sign Up</a:t>
            </a:r>
            <a:endParaRPr lang="en-US" sz="1300"/>
          </a:p>
        </p:txBody>
      </p:sp>
      <p:pic>
        <p:nvPicPr>
          <p:cNvPr id="256253971" name="Sign Up 1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041922" y="2240280"/>
            <a:ext cx="545556" cy="1289304"/>
          </a:xfrm>
          <a:prstGeom prst="rect">
            <a:avLst/>
          </a:prstGeom>
          <a:ln>
            <a:noFill/>
          </a:ln>
        </p:spPr>
      </p:pic>
      <p:sp>
        <p:nvSpPr>
          <p:cNvPr id="1396405031" name="ScreenshotCard 16"/>
          <p:cNvSpPr/>
          <p:nvPr/>
        </p:nvSpPr>
        <p:spPr bwMode="auto">
          <a:xfrm>
            <a:off x="4315968" y="1737360"/>
            <a:ext cx="1508759" cy="20116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714753268" name="AccentBar 17"/>
          <p:cNvSpPr/>
          <p:nvPr/>
        </p:nvSpPr>
        <p:spPr bwMode="auto">
          <a:xfrm>
            <a:off x="4480559" y="1901952"/>
            <a:ext cx="109728" cy="1682496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970791539" name="TextBox 18"/>
          <p:cNvSpPr/>
          <p:nvPr/>
        </p:nvSpPr>
        <p:spPr bwMode="auto">
          <a:xfrm>
            <a:off x="4700016" y="1901952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Sign In</a:t>
            </a:r>
            <a:endParaRPr lang="en-US" sz="1300"/>
          </a:p>
        </p:txBody>
      </p:sp>
      <p:pic>
        <p:nvPicPr>
          <p:cNvPr id="2122451344" name="Sign In 1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730918" y="2240280"/>
            <a:ext cx="678858" cy="1289304"/>
          </a:xfrm>
          <a:prstGeom prst="rect">
            <a:avLst/>
          </a:prstGeom>
          <a:ln>
            <a:noFill/>
          </a:ln>
        </p:spPr>
      </p:pic>
      <p:sp>
        <p:nvSpPr>
          <p:cNvPr id="860999719" name="ScreenshotCard 20"/>
          <p:cNvSpPr/>
          <p:nvPr/>
        </p:nvSpPr>
        <p:spPr bwMode="auto">
          <a:xfrm>
            <a:off x="6071616" y="1737360"/>
            <a:ext cx="1508759" cy="20116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198474374" name="AccentBar 21"/>
          <p:cNvSpPr/>
          <p:nvPr/>
        </p:nvSpPr>
        <p:spPr bwMode="auto">
          <a:xfrm>
            <a:off x="6236207" y="1901952"/>
            <a:ext cx="109728" cy="168249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637532728" name="TextBox 22"/>
          <p:cNvSpPr/>
          <p:nvPr/>
        </p:nvSpPr>
        <p:spPr bwMode="auto">
          <a:xfrm>
            <a:off x="6455664" y="1901952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Home</a:t>
            </a:r>
            <a:endParaRPr lang="en-US" sz="1300"/>
          </a:p>
        </p:txBody>
      </p:sp>
      <p:pic>
        <p:nvPicPr>
          <p:cNvPr id="240787794" name="Home 2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576108" y="2240280"/>
            <a:ext cx="499775" cy="1289304"/>
          </a:xfrm>
          <a:prstGeom prst="rect">
            <a:avLst/>
          </a:prstGeom>
          <a:ln>
            <a:noFill/>
          </a:ln>
        </p:spPr>
      </p:pic>
      <p:sp>
        <p:nvSpPr>
          <p:cNvPr id="782817830" name="ScreenshotCard 24"/>
          <p:cNvSpPr/>
          <p:nvPr/>
        </p:nvSpPr>
        <p:spPr bwMode="auto">
          <a:xfrm>
            <a:off x="7827264" y="1737360"/>
            <a:ext cx="1508759" cy="20116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856552521" name="AccentBar 25"/>
          <p:cNvSpPr/>
          <p:nvPr/>
        </p:nvSpPr>
        <p:spPr bwMode="auto">
          <a:xfrm>
            <a:off x="7991856" y="1901952"/>
            <a:ext cx="109728" cy="168249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200091055" name="TextBox 26"/>
          <p:cNvSpPr/>
          <p:nvPr/>
        </p:nvSpPr>
        <p:spPr bwMode="auto">
          <a:xfrm>
            <a:off x="8211312" y="1901952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Activity</a:t>
            </a:r>
            <a:endParaRPr lang="en-US" sz="1300"/>
          </a:p>
        </p:txBody>
      </p:sp>
      <p:pic>
        <p:nvPicPr>
          <p:cNvPr id="1593835895" name="Activity 2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310764" y="2240280"/>
            <a:ext cx="541759" cy="1289304"/>
          </a:xfrm>
          <a:prstGeom prst="rect">
            <a:avLst/>
          </a:prstGeom>
          <a:ln>
            <a:noFill/>
          </a:ln>
        </p:spPr>
      </p:pic>
      <p:sp>
        <p:nvSpPr>
          <p:cNvPr id="1694521014" name="ScreenshotCard 28"/>
          <p:cNvSpPr/>
          <p:nvPr/>
        </p:nvSpPr>
        <p:spPr bwMode="auto">
          <a:xfrm>
            <a:off x="9582912" y="1737360"/>
            <a:ext cx="1508759" cy="20116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2135122918" name="AccentBar 29"/>
          <p:cNvSpPr/>
          <p:nvPr/>
        </p:nvSpPr>
        <p:spPr bwMode="auto">
          <a:xfrm>
            <a:off x="9747504" y="1901952"/>
            <a:ext cx="109728" cy="1682496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755043537" name="TextBox 30"/>
          <p:cNvSpPr/>
          <p:nvPr/>
        </p:nvSpPr>
        <p:spPr bwMode="auto">
          <a:xfrm>
            <a:off x="9966960" y="1901952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Alarm</a:t>
            </a:r>
            <a:endParaRPr lang="en-US" sz="1300"/>
          </a:p>
        </p:txBody>
      </p:sp>
      <p:pic>
        <p:nvPicPr>
          <p:cNvPr id="118374152" name="Alarm 31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0128871" y="2240280"/>
            <a:ext cx="416842" cy="1289304"/>
          </a:xfrm>
          <a:prstGeom prst="rect">
            <a:avLst/>
          </a:prstGeom>
          <a:ln>
            <a:noFill/>
          </a:ln>
        </p:spPr>
      </p:pic>
      <p:sp>
        <p:nvSpPr>
          <p:cNvPr id="23232371" name="ScreenshotCard 32"/>
          <p:cNvSpPr/>
          <p:nvPr/>
        </p:nvSpPr>
        <p:spPr bwMode="auto">
          <a:xfrm>
            <a:off x="1682496" y="3977639"/>
            <a:ext cx="1508759" cy="20116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47153076" name="AccentBar 33"/>
          <p:cNvSpPr/>
          <p:nvPr/>
        </p:nvSpPr>
        <p:spPr bwMode="auto">
          <a:xfrm>
            <a:off x="1847088" y="4142231"/>
            <a:ext cx="109728" cy="168249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>
            <a:noFill/>
          </a:ln>
        </p:spPr>
      </p:sp>
      <p:sp>
        <p:nvSpPr>
          <p:cNvPr id="668409284" name="TextBox 34"/>
          <p:cNvSpPr/>
          <p:nvPr/>
        </p:nvSpPr>
        <p:spPr bwMode="auto">
          <a:xfrm>
            <a:off x="2066544" y="4142231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Analytics</a:t>
            </a:r>
            <a:endParaRPr lang="en-US" sz="1300"/>
          </a:p>
        </p:txBody>
      </p:sp>
      <p:pic>
        <p:nvPicPr>
          <p:cNvPr id="1633825350" name="Analytics 35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2209352" y="4480559"/>
            <a:ext cx="455048" cy="1289304"/>
          </a:xfrm>
          <a:prstGeom prst="rect">
            <a:avLst/>
          </a:prstGeom>
          <a:ln>
            <a:noFill/>
          </a:ln>
        </p:spPr>
      </p:pic>
      <p:sp>
        <p:nvSpPr>
          <p:cNvPr id="147249456" name="ScreenshotCard 36"/>
          <p:cNvSpPr/>
          <p:nvPr/>
        </p:nvSpPr>
        <p:spPr bwMode="auto">
          <a:xfrm>
            <a:off x="3438144" y="3977639"/>
            <a:ext cx="1508759" cy="20116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697929726" name="AccentBar 37"/>
          <p:cNvSpPr/>
          <p:nvPr/>
        </p:nvSpPr>
        <p:spPr bwMode="auto">
          <a:xfrm>
            <a:off x="3602735" y="4142231"/>
            <a:ext cx="109728" cy="1682496"/>
          </a:xfrm>
          <a:prstGeom prst="roundRect">
            <a:avLst>
              <a:gd name="adj" fmla="val 16667"/>
            </a:avLst>
          </a:prstGeom>
          <a:solidFill>
            <a:srgbClr val="7FE3C4"/>
          </a:solidFill>
          <a:ln>
            <a:noFill/>
          </a:ln>
        </p:spPr>
      </p:sp>
      <p:sp>
        <p:nvSpPr>
          <p:cNvPr id="1124342405" name="TextBox 38"/>
          <p:cNvSpPr/>
          <p:nvPr/>
        </p:nvSpPr>
        <p:spPr bwMode="auto">
          <a:xfrm>
            <a:off x="3822191" y="4142231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Coach</a:t>
            </a:r>
            <a:endParaRPr lang="en-US" sz="1300"/>
          </a:p>
        </p:txBody>
      </p:sp>
      <p:pic>
        <p:nvPicPr>
          <p:cNvPr id="65346028" name="Coach 39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3946488" y="4480559"/>
            <a:ext cx="492071" cy="1289304"/>
          </a:xfrm>
          <a:prstGeom prst="rect">
            <a:avLst/>
          </a:prstGeom>
          <a:ln>
            <a:noFill/>
          </a:ln>
        </p:spPr>
      </p:pic>
      <p:sp>
        <p:nvSpPr>
          <p:cNvPr id="1773970011" name="ScreenshotCard 40"/>
          <p:cNvSpPr/>
          <p:nvPr/>
        </p:nvSpPr>
        <p:spPr bwMode="auto">
          <a:xfrm>
            <a:off x="5193792" y="3977639"/>
            <a:ext cx="1508759" cy="2011680"/>
          </a:xfrm>
          <a:prstGeom prst="roundRect">
            <a:avLst>
              <a:gd name="adj" fmla="val 16667"/>
            </a:avLst>
          </a:prstGeom>
          <a:solidFill>
            <a:srgbClr val="161B33"/>
          </a:solidFill>
          <a:ln w="12700">
            <a:solidFill>
              <a:srgbClr val="262C48">
                <a:alpha val="30000"/>
              </a:srgbClr>
            </a:solidFill>
            <a:prstDash val="solid"/>
          </a:ln>
        </p:spPr>
      </p:sp>
      <p:sp>
        <p:nvSpPr>
          <p:cNvPr id="1169655414" name="AccentBar 41"/>
          <p:cNvSpPr/>
          <p:nvPr/>
        </p:nvSpPr>
        <p:spPr bwMode="auto">
          <a:xfrm>
            <a:off x="5358383" y="4142231"/>
            <a:ext cx="109728" cy="1682496"/>
          </a:xfrm>
          <a:prstGeom prst="roundRect">
            <a:avLst>
              <a:gd name="adj" fmla="val 16667"/>
            </a:avLst>
          </a:prstGeom>
          <a:solidFill>
            <a:srgbClr val="A69DFF"/>
          </a:solidFill>
          <a:ln>
            <a:noFill/>
          </a:ln>
        </p:spPr>
      </p:sp>
      <p:sp>
        <p:nvSpPr>
          <p:cNvPr id="1062229124" name="TextBox 42"/>
          <p:cNvSpPr/>
          <p:nvPr/>
        </p:nvSpPr>
        <p:spPr bwMode="auto">
          <a:xfrm>
            <a:off x="5577840" y="4142231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r>
              <a:rPr lang="en-US" sz="1300" b="1">
                <a:solidFill>
                  <a:srgbClr val="F4F5FB"/>
                </a:solidFill>
                <a:latin typeface="Aptos"/>
              </a:rPr>
              <a:t>Profile</a:t>
            </a:r>
            <a:endParaRPr lang="en-US" sz="1300"/>
          </a:p>
        </p:txBody>
      </p:sp>
      <p:pic>
        <p:nvPicPr>
          <p:cNvPr id="1001201159" name="Profile 43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5739751" y="4480559"/>
            <a:ext cx="416842" cy="1289304"/>
          </a:xfrm>
          <a:prstGeom prst="rect">
            <a:avLst/>
          </a:prstGeom>
          <a:ln>
            <a:noFill/>
          </a:ln>
        </p:spPr>
      </p:pic>
      <p:sp>
        <p:nvSpPr>
          <p:cNvPr id="119848773" name="TextBox 44"/>
          <p:cNvSpPr/>
          <p:nvPr/>
        </p:nvSpPr>
        <p:spPr bwMode="auto">
          <a:xfrm>
            <a:off x="7315200" y="42976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endParaRPr lang="en-US" sz="1300"/>
          </a:p>
        </p:txBody>
      </p:sp>
      <p:sp>
        <p:nvSpPr>
          <p:cNvPr id="1089801624" name="TextBox 45"/>
          <p:cNvSpPr/>
          <p:nvPr/>
        </p:nvSpPr>
        <p:spPr bwMode="auto">
          <a:xfrm>
            <a:off x="7315200" y="5074920"/>
            <a:ext cx="3749039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reamMind Theme">
  <a:themeElements>
    <a:clrScheme name="DreamMind">
      <a:dk1>
        <a:srgbClr val="000000"/>
      </a:dk1>
      <a:lt1>
        <a:srgbClr val="FFFFFF"/>
      </a:lt1>
      <a:dk2>
        <a:srgbClr val="0B0F1F"/>
      </a:dk2>
      <a:lt2>
        <a:srgbClr val="F4F5FB"/>
      </a:lt2>
      <a:accent1>
        <a:srgbClr val="7C6FF0"/>
      </a:accent1>
      <a:accent2>
        <a:srgbClr val="7FE3C4"/>
      </a:accent2>
      <a:accent3>
        <a:srgbClr val="A69DFF"/>
      </a:accent3>
      <a:accent4>
        <a:srgbClr val="E98DB3"/>
      </a:accent4>
      <a:accent5>
        <a:srgbClr val="9AA0C0"/>
      </a:accent5>
      <a:accent6>
        <a:srgbClr val="1F2547"/>
      </a:accent6>
      <a:hlink>
        <a:srgbClr val="7C6FF0"/>
      </a:hlink>
      <a:folHlink>
        <a:srgbClr val="A69DFF"/>
      </a:folHlink>
    </a:clrScheme>
    <a:fontScheme name="DreamMind Fonts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DreamMind Format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90000"/>
                <a:satMod val="130000"/>
              </a:schemeClr>
            </a:gs>
          </a:gsLst>
          <a:lin ang="16200000" scaled="1"/>
        </a:gradFill>
        <a:gradFill>
          <a:gsLst>
            <a:gs pos="0">
              <a:schemeClr val="phClr">
                <a:alpha val="100000"/>
              </a:schemeClr>
            </a:gs>
            <a:gs pos="100000">
              <a:schemeClr val="phClr">
                <a:alpha val="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alpha val="50000"/>
          </a:schemeClr>
        </a:solidFill>
        <a:gradFill>
          <a:gsLst>
            <a:gs pos="0">
              <a:schemeClr val="phClr">
                <a:alpha val="100000"/>
              </a:schemeClr>
            </a:gs>
            <a:gs pos="100000">
              <a:schemeClr val="phClr">
                <a:alpha val="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reamMind Theme">
  <a:themeElements>
    <a:clrScheme name="DreamMind">
      <a:dk1>
        <a:srgbClr val="000000"/>
      </a:dk1>
      <a:lt1>
        <a:srgbClr val="FFFFFF"/>
      </a:lt1>
      <a:dk2>
        <a:srgbClr val="0B0F1F"/>
      </a:dk2>
      <a:lt2>
        <a:srgbClr val="F4F5FB"/>
      </a:lt2>
      <a:accent1>
        <a:srgbClr val="7C6FF0"/>
      </a:accent1>
      <a:accent2>
        <a:srgbClr val="7FE3C4"/>
      </a:accent2>
      <a:accent3>
        <a:srgbClr val="A69DFF"/>
      </a:accent3>
      <a:accent4>
        <a:srgbClr val="E98DB3"/>
      </a:accent4>
      <a:accent5>
        <a:srgbClr val="9AA0C0"/>
      </a:accent5>
      <a:accent6>
        <a:srgbClr val="1F2547"/>
      </a:accent6>
      <a:hlink>
        <a:srgbClr val="7C6FF0"/>
      </a:hlink>
      <a:folHlink>
        <a:srgbClr val="A69DFF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DreamMind Format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90000"/>
                <a:satMod val="130000"/>
              </a:schemeClr>
            </a:gs>
          </a:gsLst>
          <a:lin ang="16200000" scaled="1"/>
        </a:gradFill>
        <a:gradFill>
          <a:gsLst>
            <a:gs pos="0">
              <a:schemeClr val="phClr">
                <a:alpha val="100000"/>
              </a:schemeClr>
            </a:gs>
            <a:gs pos="100000">
              <a:schemeClr val="phClr">
                <a:alpha val="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alpha val="50000"/>
          </a:schemeClr>
        </a:solidFill>
        <a:gradFill>
          <a:gsLst>
            <a:gs pos="0">
              <a:schemeClr val="phClr">
                <a:alpha val="100000"/>
              </a:schemeClr>
            </a:gs>
            <a:gs pos="100000">
              <a:schemeClr val="phClr">
                <a:alpha val="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DreamMind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DreamMind Final Exam Presentation</dc:title>
  <dc:creator>OpenAI Codex</dc:creator>
  <cp:lastModifiedBy/>
  <cp:revision>1</cp:revision>
  <dcterms:created xsi:type="dcterms:W3CDTF">2026-05-05T04:57:27Z</dcterms:created>
  <dcterms:modified xsi:type="dcterms:W3CDTF">2026-05-05T05:01:05Z</dcterms:modified>
</cp:coreProperties>
</file>